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296" r:id="rId5"/>
    <p:sldId id="297" r:id="rId6"/>
    <p:sldId id="286" r:id="rId7"/>
    <p:sldId id="261" r:id="rId8"/>
    <p:sldId id="285" r:id="rId9"/>
    <p:sldId id="298" r:id="rId10"/>
    <p:sldId id="300" r:id="rId11"/>
    <p:sldId id="299" r:id="rId12"/>
    <p:sldId id="303" r:id="rId13"/>
    <p:sldId id="301" r:id="rId14"/>
    <p:sldId id="304" r:id="rId15"/>
    <p:sldId id="305" r:id="rId16"/>
    <p:sldId id="309" r:id="rId17"/>
    <p:sldId id="262" r:id="rId18"/>
    <p:sldId id="265" r:id="rId19"/>
    <p:sldId id="280" r:id="rId20"/>
    <p:sldId id="279" r:id="rId21"/>
    <p:sldId id="306" r:id="rId22"/>
    <p:sldId id="287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1D51"/>
    <a:srgbClr val="2C567A"/>
    <a:srgbClr val="0072C7"/>
    <a:srgbClr val="6666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0E3FDE45-AF77-4B5C-9715-49D594BDF05E}"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87887" autoAdjust="0"/>
  </p:normalViewPr>
  <p:slideViewPr>
    <p:cSldViewPr snapToGrid="0" showGuides="1">
      <p:cViewPr varScale="1">
        <p:scale>
          <a:sx n="84" d="100"/>
          <a:sy n="84" d="100"/>
        </p:scale>
        <p:origin x="610" y="6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00" d="100"/>
          <a:sy n="100" d="100"/>
        </p:scale>
        <p:origin x="1560" y="-14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7243D74-B9C1-450A-B0F3-6C6DCB0CF2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C27C33-9BB1-41D5-A236-12767E7E72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AB3EA8-A58D-4C92-A3AB-D271CCC294C7}" type="datetimeFigureOut">
              <a:rPr lang="en-US" smtClean="0"/>
              <a:t>11/12/2025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4A7EADB-04A4-4093-B238-438E2C7317A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DD8696-706D-440E-AE04-4C644F0613E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2A5DE8-F2C4-4DB3-88D1-656DCD59E73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98243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FB4FA-E877-413E-B608-88789D806C57}" type="datetimeFigureOut">
              <a:rPr lang="en-US" noProof="0" smtClean="0"/>
              <a:t>11/12/2025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36304E-FDE3-4B4F-A3B7-EBE87F3FA5E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851386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36304E-FDE3-4B4F-A3B7-EBE87F3FA5E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21903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7" Type="http://schemas.openxmlformats.org/officeDocument/2006/relationships/image" Target="../media/image5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7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5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15.svg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5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D93970-B13A-F96D-A4B1-3A1EE748410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" y="0"/>
            <a:ext cx="12202379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456FD49-C258-4333-9422-358C976A34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02920"/>
            <a:ext cx="10954512" cy="3246120"/>
          </a:xfrm>
        </p:spPr>
        <p:txBody>
          <a:bodyPr anchor="b">
            <a:noAutofit/>
          </a:bodyPr>
          <a:lstStyle>
            <a:lvl1pPr algn="ctr">
              <a:defRPr sz="6600" b="1" i="0" cap="none" baseline="0">
                <a:solidFill>
                  <a:schemeClr val="accent2">
                    <a:lumMod val="25000"/>
                  </a:schemeClr>
                </a:solidFill>
                <a:latin typeface="+mj-lt"/>
              </a:defRPr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3758183"/>
            <a:ext cx="10954512" cy="1307592"/>
          </a:xfrm>
        </p:spPr>
        <p:txBody>
          <a:bodyPr>
            <a:noAutofit/>
          </a:bodyPr>
          <a:lstStyle>
            <a:lvl1pPr marL="0" indent="0" algn="ctr">
              <a:buNone/>
              <a:defRPr sz="3200" b="0" cap="all" baseline="0">
                <a:solidFill>
                  <a:schemeClr val="accent2">
                    <a:lumMod val="25000"/>
                  </a:schemeClr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Click to edit Master subtitle style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88496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01">
    <p:bg>
      <p:bgPr>
        <a:gradFill>
          <a:gsLst>
            <a:gs pos="33000">
              <a:schemeClr val="bg2"/>
            </a:gs>
            <a:gs pos="59000">
              <a:schemeClr val="tx2">
                <a:lumMod val="90000"/>
                <a:alpha val="65163"/>
              </a:schemeClr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850392"/>
            <a:ext cx="3913632" cy="4800600"/>
          </a:xfrm>
        </p:spPr>
        <p:txBody>
          <a:bodyPr/>
          <a:lstStyle>
            <a:lvl1pPr>
              <a:defRPr>
                <a:solidFill>
                  <a:schemeClr val="accent2">
                    <a:lumMod val="25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8384" y="1965960"/>
            <a:ext cx="4050792" cy="2953512"/>
          </a:xfrm>
        </p:spPr>
        <p:txBody>
          <a:bodyPr anchor="ctr" anchorCtr="0"/>
          <a:lstStyle>
            <a:lvl1pPr>
              <a:defRPr cap="all" baseline="0">
                <a:solidFill>
                  <a:schemeClr val="accent2">
                    <a:lumMod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8/6/20XX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ounded Rectangle 4">
            <a:extLst>
              <a:ext uri="{FF2B5EF4-FFF2-40B4-BE49-F238E27FC236}">
                <a16:creationId xmlns:a16="http://schemas.microsoft.com/office/drawing/2014/main" id="{906EB944-76A9-6F98-104E-59CD34F5CF94}"/>
              </a:ext>
            </a:extLst>
          </p:cNvPr>
          <p:cNvSpPr/>
          <p:nvPr userDrawn="1"/>
        </p:nvSpPr>
        <p:spPr>
          <a:xfrm>
            <a:off x="256674" y="256674"/>
            <a:ext cx="11678651" cy="6352673"/>
          </a:xfrm>
          <a:prstGeom prst="roundRect">
            <a:avLst>
              <a:gd name="adj" fmla="val 4303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1" name="Picture 7">
            <a:extLst>
              <a:ext uri="{FF2B5EF4-FFF2-40B4-BE49-F238E27FC236}">
                <a16:creationId xmlns:a16="http://schemas.microsoft.com/office/drawing/2014/main" id="{898C8E3F-6992-0D8A-CCA1-3DD2C147AA8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4756"/>
          <a:stretch/>
        </p:blipFill>
        <p:spPr>
          <a:xfrm>
            <a:off x="8853067" y="1"/>
            <a:ext cx="1875091" cy="1605320"/>
          </a:xfrm>
          <a:prstGeom prst="rect">
            <a:avLst/>
          </a:prstGeom>
        </p:spPr>
      </p:pic>
      <p:pic>
        <p:nvPicPr>
          <p:cNvPr id="13" name="Picture 7">
            <a:extLst>
              <a:ext uri="{FF2B5EF4-FFF2-40B4-BE49-F238E27FC236}">
                <a16:creationId xmlns:a16="http://schemas.microsoft.com/office/drawing/2014/main" id="{4417AC45-4CB7-72E8-3723-B1A3D81FB6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713775" y="5533690"/>
            <a:ext cx="493392" cy="495528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AE5941EF-B160-313A-DA99-73C86EDC4C1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46794"/>
          <a:stretch/>
        </p:blipFill>
        <p:spPr>
          <a:xfrm>
            <a:off x="10316909" y="2723673"/>
            <a:ext cx="1875091" cy="3600981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EEC16221-5852-F1A3-24D1-8EF5E907173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1791"/>
          <a:stretch/>
        </p:blipFill>
        <p:spPr>
          <a:xfrm>
            <a:off x="3497179" y="6324654"/>
            <a:ext cx="910220" cy="541368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5D8B34C3-E35E-0B4E-1F8E-59C449A3C8D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31904"/>
          <a:stretch/>
        </p:blipFill>
        <p:spPr>
          <a:xfrm>
            <a:off x="1601212" y="0"/>
            <a:ext cx="1032928" cy="718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78555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51FEFCE-5DDA-D353-F1BF-36752F5F079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2917"/>
            <a:ext cx="12197191" cy="685508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456FD49-C258-4333-9422-358C976A34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7824" y="1325880"/>
            <a:ext cx="10460736" cy="2286000"/>
          </a:xfrm>
        </p:spPr>
        <p:txBody>
          <a:bodyPr anchor="b">
            <a:noAutofit/>
          </a:bodyPr>
          <a:lstStyle>
            <a:lvl1pPr algn="ctr">
              <a:defRPr sz="6600" b="1" i="0" cap="none" spc="-150" baseline="0">
                <a:solidFill>
                  <a:schemeClr val="accent2">
                    <a:lumMod val="25000"/>
                  </a:schemeClr>
                </a:solidFill>
                <a:latin typeface="+mj-lt"/>
              </a:defRPr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77824" y="3749040"/>
            <a:ext cx="10460736" cy="2286000"/>
          </a:xfrm>
        </p:spPr>
        <p:txBody>
          <a:bodyPr>
            <a:noAutofit/>
          </a:bodyPr>
          <a:lstStyle>
            <a:lvl1pPr marL="0" indent="0" algn="ctr">
              <a:buNone/>
              <a:defRPr sz="3200" b="0" cap="all" baseline="0">
                <a:solidFill>
                  <a:schemeClr val="accent2">
                    <a:lumMod val="25000"/>
                  </a:schemeClr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Click to edit Master subtitle style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02723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02">
    <p:bg>
      <p:bgPr>
        <a:gradFill>
          <a:gsLst>
            <a:gs pos="33000">
              <a:schemeClr val="bg2"/>
            </a:gs>
            <a:gs pos="59000">
              <a:schemeClr val="tx2">
                <a:lumMod val="90000"/>
                <a:alpha val="65163"/>
              </a:schemeClr>
            </a:gs>
          </a:gsLst>
          <a:lin ang="19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3">
            <a:extLst>
              <a:ext uri="{FF2B5EF4-FFF2-40B4-BE49-F238E27FC236}">
                <a16:creationId xmlns:a16="http://schemas.microsoft.com/office/drawing/2014/main" id="{B6718ABD-4EA5-E3C5-0225-F6671DCA53AD}"/>
              </a:ext>
            </a:extLst>
          </p:cNvPr>
          <p:cNvSpPr/>
          <p:nvPr userDrawn="1"/>
        </p:nvSpPr>
        <p:spPr>
          <a:xfrm>
            <a:off x="256674" y="256674"/>
            <a:ext cx="11678651" cy="6352673"/>
          </a:xfrm>
          <a:prstGeom prst="roundRect">
            <a:avLst>
              <a:gd name="adj" fmla="val 4303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721A955-CA2D-A65D-6E60-DAAAA4ACFA3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1050"/>
          <a:stretch/>
        </p:blipFill>
        <p:spPr>
          <a:xfrm>
            <a:off x="0" y="2887579"/>
            <a:ext cx="2432421" cy="360466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AB70155A-604C-AD00-BE69-4505C75CE01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5874" b="-1"/>
          <a:stretch/>
        </p:blipFill>
        <p:spPr>
          <a:xfrm rot="5400000">
            <a:off x="11281284" y="2493882"/>
            <a:ext cx="1032928" cy="887899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F74D1084-EF5E-D016-13E0-1840BDFFD0A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b="-880"/>
          <a:stretch/>
        </p:blipFill>
        <p:spPr>
          <a:xfrm>
            <a:off x="9897978" y="5987153"/>
            <a:ext cx="490012" cy="5050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365760"/>
            <a:ext cx="10277856" cy="1655064"/>
          </a:xfrm>
        </p:spPr>
        <p:txBody>
          <a:bodyPr anchor="b"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304" y="2313432"/>
            <a:ext cx="6327648" cy="3218688"/>
          </a:xfrm>
        </p:spPr>
        <p:txBody>
          <a:bodyPr anchor="ctr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8/6/20XX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90326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E1B9A11-4222-BB4A-66D3-D37C79AC57C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-1" r="21" b="21"/>
          <a:stretch/>
        </p:blipFill>
        <p:spPr>
          <a:xfrm>
            <a:off x="-2595" y="1459"/>
            <a:ext cx="12197191" cy="685508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456FD49-C258-4333-9422-358C976A34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54296" y="27432"/>
            <a:ext cx="7004304" cy="3566160"/>
          </a:xfrm>
        </p:spPr>
        <p:txBody>
          <a:bodyPr anchor="b">
            <a:noAutofit/>
          </a:bodyPr>
          <a:lstStyle>
            <a:lvl1pPr algn="ctr">
              <a:defRPr sz="6000" b="1" i="0" cap="none" spc="-150" baseline="0">
                <a:solidFill>
                  <a:schemeClr val="accent2">
                    <a:lumMod val="25000"/>
                  </a:schemeClr>
                </a:solidFill>
                <a:latin typeface="+mj-lt"/>
              </a:defRPr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54295" y="3767328"/>
            <a:ext cx="7004303" cy="1161288"/>
          </a:xfrm>
        </p:spPr>
        <p:txBody>
          <a:bodyPr>
            <a:noAutofit/>
          </a:bodyPr>
          <a:lstStyle>
            <a:lvl1pPr marL="0" indent="0" algn="ctr">
              <a:buNone/>
              <a:defRPr sz="3200" b="0" cap="all" baseline="0">
                <a:solidFill>
                  <a:schemeClr val="accent2">
                    <a:lumMod val="25000"/>
                  </a:schemeClr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Click to edit Master subtitle style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296238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1">
    <p:bg>
      <p:bgPr>
        <a:gradFill>
          <a:gsLst>
            <a:gs pos="33000">
              <a:schemeClr val="bg2"/>
            </a:gs>
            <a:gs pos="59000">
              <a:schemeClr val="tx2">
                <a:lumMod val="90000"/>
                <a:alpha val="65163"/>
              </a:schemeClr>
            </a:gs>
          </a:gsLst>
          <a:lin ang="21594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772C86F9-080E-93F7-C7B1-F5BEAD84E3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365760"/>
            <a:ext cx="10506456" cy="1655064"/>
          </a:xfrm>
        </p:spPr>
        <p:txBody>
          <a:bodyPr anchor="b"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97280" y="2432304"/>
            <a:ext cx="3108960" cy="34123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DFB03A-367B-9ADA-8071-E22871EC11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736592" y="1920240"/>
            <a:ext cx="6620256" cy="39136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8/6/20XX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FF98F94-8801-13BE-8EB4-01921AC196C8}"/>
              </a:ext>
            </a:extLst>
          </p:cNvPr>
          <p:cNvSpPr/>
          <p:nvPr userDrawn="1"/>
        </p:nvSpPr>
        <p:spPr>
          <a:xfrm>
            <a:off x="256674" y="256674"/>
            <a:ext cx="11678651" cy="6352673"/>
          </a:xfrm>
          <a:prstGeom prst="roundRect">
            <a:avLst>
              <a:gd name="adj" fmla="val 4303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7BF5718-9534-FD92-79D7-ECC66603E70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2387"/>
          <a:stretch/>
        </p:blipFill>
        <p:spPr>
          <a:xfrm rot="5400000">
            <a:off x="1778676" y="5204330"/>
            <a:ext cx="907513" cy="2465321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4FF40650-9AD0-96F8-F702-185D1729AF81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93558" y="5429608"/>
            <a:ext cx="406214" cy="415066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83AC8518-2F0B-6FC0-0C0E-6CE9D00EAC7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-4860" b="-1"/>
          <a:stretch/>
        </p:blipFill>
        <p:spPr>
          <a:xfrm>
            <a:off x="10214191" y="365126"/>
            <a:ext cx="1032928" cy="1106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360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03">
    <p:bg>
      <p:bgPr>
        <a:gradFill>
          <a:gsLst>
            <a:gs pos="33000">
              <a:schemeClr val="bg2"/>
            </a:gs>
            <a:gs pos="59000">
              <a:schemeClr val="tx2">
                <a:lumMod val="90000"/>
                <a:alpha val="65163"/>
              </a:schemeClr>
            </a:gs>
          </a:gsLst>
          <a:lin ang="19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E7B4AF60-AC65-3E7A-4A5D-EBF1A7030D9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063" b="3063"/>
          <a:stretch/>
        </p:blipFill>
        <p:spPr>
          <a:xfrm>
            <a:off x="1" y="2917"/>
            <a:ext cx="12197189" cy="6855082"/>
          </a:xfrm>
          <a:prstGeom prst="rect">
            <a:avLst/>
          </a:prstGeom>
        </p:spPr>
      </p:pic>
      <p:sp>
        <p:nvSpPr>
          <p:cNvPr id="12" name="Rounded Rectangle 4">
            <a:extLst>
              <a:ext uri="{FF2B5EF4-FFF2-40B4-BE49-F238E27FC236}">
                <a16:creationId xmlns:a16="http://schemas.microsoft.com/office/drawing/2014/main" id="{95671103-2960-81E2-9A76-0E7FDE6B3E55}"/>
              </a:ext>
            </a:extLst>
          </p:cNvPr>
          <p:cNvSpPr/>
          <p:nvPr userDrawn="1"/>
        </p:nvSpPr>
        <p:spPr>
          <a:xfrm>
            <a:off x="256674" y="256674"/>
            <a:ext cx="11678651" cy="6352673"/>
          </a:xfrm>
          <a:prstGeom prst="roundRect">
            <a:avLst>
              <a:gd name="adj" fmla="val 4303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365760"/>
            <a:ext cx="10277856" cy="1655064"/>
          </a:xfrm>
        </p:spPr>
        <p:txBody>
          <a:bodyPr anchor="b"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304" y="2276856"/>
            <a:ext cx="6327648" cy="3090672"/>
          </a:xfrm>
        </p:spPr>
        <p:txBody>
          <a:bodyPr anchor="ctr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8/6/20XX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2648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 02">
    <p:bg>
      <p:bgPr>
        <a:gradFill>
          <a:gsLst>
            <a:gs pos="33000">
              <a:schemeClr val="bg2"/>
            </a:gs>
            <a:gs pos="59000">
              <a:schemeClr val="tx2">
                <a:lumMod val="90000"/>
                <a:alpha val="65163"/>
              </a:schemeClr>
            </a:gs>
          </a:gsLst>
          <a:lin ang="16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4">
            <a:extLst>
              <a:ext uri="{FF2B5EF4-FFF2-40B4-BE49-F238E27FC236}">
                <a16:creationId xmlns:a16="http://schemas.microsoft.com/office/drawing/2014/main" id="{86060D16-E6F6-EA0E-E58E-526234AB6564}"/>
              </a:ext>
            </a:extLst>
          </p:cNvPr>
          <p:cNvSpPr/>
          <p:nvPr userDrawn="1"/>
        </p:nvSpPr>
        <p:spPr>
          <a:xfrm>
            <a:off x="256674" y="256674"/>
            <a:ext cx="11678651" cy="6352673"/>
          </a:xfrm>
          <a:prstGeom prst="roundRect">
            <a:avLst>
              <a:gd name="adj" fmla="val 4303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E0958AA-6F1A-C4A2-FB66-1A6F7F8834B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-6095" b="-1"/>
          <a:stretch/>
        </p:blipFill>
        <p:spPr>
          <a:xfrm>
            <a:off x="569419" y="4426479"/>
            <a:ext cx="1472805" cy="1596616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EADFA2-398E-9388-8295-063D31FB38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-6095" b="-1"/>
          <a:stretch/>
        </p:blipFill>
        <p:spPr>
          <a:xfrm rot="3765410" flipV="1">
            <a:off x="1448505" y="4094575"/>
            <a:ext cx="862484" cy="934988"/>
          </a:xfrm>
          <a:prstGeom prst="rect">
            <a:avLst/>
          </a:prstGeom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D09A7588-8EFD-A0C5-4235-45B7D657ECF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35453"/>
          <a:stretch/>
        </p:blipFill>
        <p:spPr>
          <a:xfrm>
            <a:off x="9469547" y="5719093"/>
            <a:ext cx="1756858" cy="1138907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EF04D7D6-513C-D18A-AF21-D10F0E5D3B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-1" r="-750"/>
          <a:stretch/>
        </p:blipFill>
        <p:spPr>
          <a:xfrm>
            <a:off x="8844546" y="50582"/>
            <a:ext cx="1307037" cy="13255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365760"/>
            <a:ext cx="10277856" cy="1655064"/>
          </a:xfrm>
        </p:spPr>
        <p:txBody>
          <a:bodyPr anchor="b"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304" y="2441448"/>
            <a:ext cx="3602736" cy="3575304"/>
          </a:xfrm>
        </p:spPr>
        <p:txBody>
          <a:bodyPr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1DCC4A1-0DB3-3480-3A1A-78FC85FE7EC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7671816" y="2441448"/>
            <a:ext cx="3602736" cy="3575304"/>
          </a:xfrm>
        </p:spPr>
        <p:txBody>
          <a:bodyPr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8/6/20XX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97282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1B32A35F-9C9A-7C7D-DE93-B55FFF07D66E}"/>
              </a:ext>
            </a:extLst>
          </p:cNvPr>
          <p:cNvSpPr/>
          <p:nvPr userDrawn="1"/>
        </p:nvSpPr>
        <p:spPr>
          <a:xfrm>
            <a:off x="256674" y="256674"/>
            <a:ext cx="11678651" cy="6352673"/>
          </a:xfrm>
          <a:prstGeom prst="roundRect">
            <a:avLst>
              <a:gd name="adj" fmla="val 4303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98299DF-E702-8750-30F5-798D7C96A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365760"/>
            <a:ext cx="10277856" cy="1655064"/>
          </a:xfrm>
        </p:spPr>
        <p:txBody>
          <a:bodyPr anchor="b"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30CE72F6-1D9D-E61E-F1EE-2861FDF765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0432" y="2459736"/>
            <a:ext cx="2843784" cy="3090672"/>
          </a:xfrm>
        </p:spPr>
        <p:txBody>
          <a:bodyPr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EFAE94C-C299-8167-1BD9-4FC98C04C63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33672" y="2523744"/>
            <a:ext cx="6693408" cy="3273552"/>
          </a:xfrm>
        </p:spPr>
        <p:txBody>
          <a:bodyPr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8/6/20XX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4947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4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198299DF-E702-8750-30F5-798D7C96A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365760"/>
            <a:ext cx="10277856" cy="1655064"/>
          </a:xfrm>
        </p:spPr>
        <p:txBody>
          <a:bodyPr anchor="b"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EFAE94C-C299-8167-1BD9-4FC98C04C63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07008" y="2523744"/>
            <a:ext cx="9720072" cy="3255264"/>
          </a:xfrm>
        </p:spPr>
        <p:txBody>
          <a:bodyPr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8/6/20XX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1B32A35F-9C9A-7C7D-DE93-B55FFF07D66E}"/>
              </a:ext>
            </a:extLst>
          </p:cNvPr>
          <p:cNvSpPr/>
          <p:nvPr userDrawn="1"/>
        </p:nvSpPr>
        <p:spPr>
          <a:xfrm>
            <a:off x="256674" y="256674"/>
            <a:ext cx="11678651" cy="6352673"/>
          </a:xfrm>
          <a:prstGeom prst="roundRect">
            <a:avLst>
              <a:gd name="adj" fmla="val 4303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84807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7A51A8B-A15C-2A94-1E48-F9615101DF4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8991" t="11245" r="3785" b="1531"/>
          <a:stretch/>
        </p:blipFill>
        <p:spPr>
          <a:xfrm>
            <a:off x="0" y="2917"/>
            <a:ext cx="12197192" cy="685508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456FD49-C258-4333-9422-358C976A34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1600200"/>
            <a:ext cx="10991088" cy="3657600"/>
          </a:xfrm>
        </p:spPr>
        <p:txBody>
          <a:bodyPr anchor="ctr">
            <a:noAutofit/>
          </a:bodyPr>
          <a:lstStyle>
            <a:lvl1pPr algn="ctr">
              <a:defRPr sz="6600" b="1" i="0" cap="none" spc="-150" baseline="0">
                <a:solidFill>
                  <a:schemeClr val="accent2">
                    <a:lumMod val="25000"/>
                  </a:schemeClr>
                </a:solidFill>
                <a:latin typeface="+mj-lt"/>
              </a:defRPr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994920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 04">
    <p:bg>
      <p:bgPr>
        <a:gradFill>
          <a:gsLst>
            <a:gs pos="33000">
              <a:schemeClr val="bg2"/>
            </a:gs>
            <a:gs pos="59000">
              <a:schemeClr val="tx2">
                <a:lumMod val="90000"/>
                <a:alpha val="65163"/>
              </a:schemeClr>
            </a:gs>
          </a:gsLst>
          <a:lin ang="13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4">
            <a:extLst>
              <a:ext uri="{FF2B5EF4-FFF2-40B4-BE49-F238E27FC236}">
                <a16:creationId xmlns:a16="http://schemas.microsoft.com/office/drawing/2014/main" id="{5697808D-10E0-D8A5-5D07-E176EBB8F2BB}"/>
              </a:ext>
            </a:extLst>
          </p:cNvPr>
          <p:cNvSpPr/>
          <p:nvPr userDrawn="1"/>
        </p:nvSpPr>
        <p:spPr>
          <a:xfrm>
            <a:off x="256674" y="256674"/>
            <a:ext cx="11678651" cy="6352673"/>
          </a:xfrm>
          <a:prstGeom prst="roundRect">
            <a:avLst>
              <a:gd name="adj" fmla="val 4303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7">
            <a:extLst>
              <a:ext uri="{FF2B5EF4-FFF2-40B4-BE49-F238E27FC236}">
                <a16:creationId xmlns:a16="http://schemas.microsoft.com/office/drawing/2014/main" id="{0234D012-F86E-04CE-78C8-2C5A6613028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-1004" r="-148"/>
          <a:stretch/>
        </p:blipFill>
        <p:spPr>
          <a:xfrm rot="5400000">
            <a:off x="6378170" y="40082"/>
            <a:ext cx="1579705" cy="1600089"/>
          </a:xfrm>
          <a:prstGeom prst="rect">
            <a:avLst/>
          </a:prstGeom>
        </p:spPr>
      </p:pic>
      <p:pic>
        <p:nvPicPr>
          <p:cNvPr id="15" name="Picture 7">
            <a:extLst>
              <a:ext uri="{FF2B5EF4-FFF2-40B4-BE49-F238E27FC236}">
                <a16:creationId xmlns:a16="http://schemas.microsoft.com/office/drawing/2014/main" id="{0BC42061-F838-920E-632E-10EDE7E553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-6239" r="25335" b="-1"/>
          <a:stretch/>
        </p:blipFill>
        <p:spPr>
          <a:xfrm rot="16200000">
            <a:off x="6298833" y="-161472"/>
            <a:ext cx="752715" cy="1075657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58BEE67F-530E-E41D-FD19-2615180DC3F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15931"/>
          <a:stretch/>
        </p:blipFill>
        <p:spPr>
          <a:xfrm>
            <a:off x="10439102" y="4145165"/>
            <a:ext cx="1780703" cy="2164311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82CFCA46-5F5A-867F-B19C-4F9ED5BA15A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r="46794"/>
          <a:stretch/>
        </p:blipFill>
        <p:spPr>
          <a:xfrm rot="10800000">
            <a:off x="-27806" y="2452933"/>
            <a:ext cx="1370742" cy="2632414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11E8F80C-ACB2-552E-4433-1A8A2708F18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1" b="-9728"/>
          <a:stretch/>
        </p:blipFill>
        <p:spPr>
          <a:xfrm rot="18286209">
            <a:off x="887827" y="4958926"/>
            <a:ext cx="910220" cy="102050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365760"/>
            <a:ext cx="10277856" cy="1655064"/>
          </a:xfrm>
        </p:spPr>
        <p:txBody>
          <a:bodyPr anchor="b"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304" y="2441448"/>
            <a:ext cx="3602736" cy="3575304"/>
          </a:xfrm>
        </p:spPr>
        <p:txBody>
          <a:bodyPr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1DCC4A1-0DB3-3480-3A1A-78FC85FE7EC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8293608" y="2441447"/>
            <a:ext cx="3063240" cy="3575303"/>
          </a:xfrm>
        </p:spPr>
        <p:txBody>
          <a:bodyPr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8/6/20XX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38508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4ACFCA6-7ECE-9BFB-9389-6DB74C86285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21" r="21"/>
          <a:stretch/>
        </p:blipFill>
        <p:spPr>
          <a:xfrm>
            <a:off x="-5192" y="-1"/>
            <a:ext cx="12197192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456FD49-C258-4333-9422-358C976A34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3856" y="56450"/>
            <a:ext cx="9912096" cy="2743200"/>
          </a:xfrm>
        </p:spPr>
        <p:txBody>
          <a:bodyPr anchor="b">
            <a:noAutofit/>
          </a:bodyPr>
          <a:lstStyle>
            <a:lvl1pPr algn="l">
              <a:defRPr sz="6600" b="1" i="0" cap="none" spc="-150" baseline="0">
                <a:solidFill>
                  <a:schemeClr val="accent2">
                    <a:lumMod val="25000"/>
                  </a:schemeClr>
                </a:solidFill>
                <a:latin typeface="+mj-lt"/>
              </a:defRPr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75304" y="3110546"/>
            <a:ext cx="4114800" cy="2743200"/>
          </a:xfrm>
        </p:spPr>
        <p:txBody>
          <a:bodyPr>
            <a:no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2400" b="0" cap="all" baseline="0">
                <a:solidFill>
                  <a:schemeClr val="accent2">
                    <a:lumMod val="25000"/>
                  </a:schemeClr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Click to edit Master subtitle style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608354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C4D7FA-B85E-4477-8C62-94955B340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1226BB-3E56-4E7F-8172-7EC03C9F0B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5D08EF-72FB-4F19-9916-65815A9CA9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563001"/>
            <a:ext cx="2743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noProof="0" dirty="0"/>
              <a:t>8/6/20XX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65084D-BC85-4A55-BD80-93876AD101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63001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FDEF23-A140-4DD6-A0D0-A86BD4DF34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75912" y="6563001"/>
            <a:ext cx="2743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71654-96A5-4280-94F3-931C61A9F92C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47082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accent2">
              <a:lumMod val="25000"/>
            </a:schemeClr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000" b="0" i="0" kern="1200">
          <a:solidFill>
            <a:schemeClr val="accent2">
              <a:lumMod val="2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325" userDrawn="1">
          <p15:clr>
            <a:srgbClr val="F26B43"/>
          </p15:clr>
        </p15:guide>
        <p15:guide id="4" pos="734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kissflow.com/" TargetMode="Externa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responsivedesignchecker.com/" TargetMode="External"/><Relationship Id="rId2" Type="http://schemas.openxmlformats.org/officeDocument/2006/relationships/hyperlink" Target="https://pagespeed.web.dev/" TargetMode="Externa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javidhf.wixsite.com/digitoil" TargetMode="Externa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hubspot.com/" TargetMode="External"/><Relationship Id="rId2" Type="http://schemas.openxmlformats.org/officeDocument/2006/relationships/hyperlink" Target="https://kissflow.com/?utm_source=chatgpt.com" TargetMode="Externa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acebook.com/business/insights/tools" TargetMode="External"/><Relationship Id="rId13" Type="http://schemas.openxmlformats.org/officeDocument/2006/relationships/hyperlink" Target="https://clarity.microsoft.com/" TargetMode="External"/><Relationship Id="rId3" Type="http://schemas.openxmlformats.org/officeDocument/2006/relationships/hyperlink" Target="https://chromewebstore.google.com/detail/seo-meta-in-1-click/bjogjfinolnhfhkbipphpdlldadpnmhc" TargetMode="External"/><Relationship Id="rId7" Type="http://schemas.openxmlformats.org/officeDocument/2006/relationships/hyperlink" Target="https://www.linkedin.com/help/linkedin/answer/a507160" TargetMode="External"/><Relationship Id="rId12" Type="http://schemas.openxmlformats.org/officeDocument/2006/relationships/hyperlink" Target="https://www.hotjar.com/" TargetMode="External"/><Relationship Id="rId2" Type="http://schemas.openxmlformats.org/officeDocument/2006/relationships/hyperlink" Target="https://pagespeed.web.dev/" TargetMode="Externa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aioseo.com/seo-analyzer/" TargetMode="External"/><Relationship Id="rId11" Type="http://schemas.openxmlformats.org/officeDocument/2006/relationships/hyperlink" Target="https://www.hubspot.com/products/marketing" TargetMode="External"/><Relationship Id="rId5" Type="http://schemas.openxmlformats.org/officeDocument/2006/relationships/hyperlink" Target="https://rankmath.com/tools/seo-analyzer/" TargetMode="External"/><Relationship Id="rId10" Type="http://schemas.openxmlformats.org/officeDocument/2006/relationships/hyperlink" Target="https://studio.youtube.com/" TargetMode="External"/><Relationship Id="rId4" Type="http://schemas.openxmlformats.org/officeDocument/2006/relationships/hyperlink" Target="https://responsivedesignchecker.com/" TargetMode="External"/><Relationship Id="rId9" Type="http://schemas.openxmlformats.org/officeDocument/2006/relationships/hyperlink" Target="https://analytics.twitter.com/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EF7BD-FE81-4B20-8DC5-0B3EB736F9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420624"/>
            <a:ext cx="10954512" cy="2441448"/>
          </a:xfrm>
        </p:spPr>
        <p:txBody>
          <a:bodyPr anchor="b"/>
          <a:lstStyle/>
          <a:p>
            <a:r>
              <a:rPr lang="en-US" sz="5400" dirty="0"/>
              <a:t>Comprehensive Audit and Analysis for Effective Digital Presence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FF0EFE-C50F-44EB-8978-B97795477C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3758183"/>
            <a:ext cx="10954512" cy="1307592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Presented by JAVIDH FARHAN </a:t>
            </a:r>
          </a:p>
        </p:txBody>
      </p:sp>
    </p:spTree>
    <p:extLst>
      <p:ext uri="{BB962C8B-B14F-4D97-AF65-F5344CB8AC3E}">
        <p14:creationId xmlns:p14="http://schemas.microsoft.com/office/powerpoint/2010/main" val="12826331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33000">
              <a:schemeClr val="bg2"/>
            </a:gs>
            <a:gs pos="59000">
              <a:schemeClr val="tx2">
                <a:lumMod val="90000"/>
                <a:alpha val="65163"/>
              </a:schemeClr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2181D-911C-1343-7267-E35AC86CC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850392"/>
            <a:ext cx="3913632" cy="4800600"/>
          </a:xfrm>
          <a:noFill/>
        </p:spPr>
        <p:txBody>
          <a:bodyPr anchor="ctr">
            <a:noAutofit/>
          </a:bodyPr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EA8735-F1DC-1DE6-0A38-429B2F660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5968" y="978408"/>
            <a:ext cx="4050792" cy="4315968"/>
          </a:xfrm>
          <a:noFill/>
        </p:spPr>
        <p:txBody>
          <a:bodyPr>
            <a:noAutofit/>
          </a:bodyPr>
          <a:lstStyle/>
          <a:p>
            <a:r>
              <a:rPr lang="en-IN" dirty="0"/>
              <a:t>Project Overview</a:t>
            </a:r>
          </a:p>
          <a:p>
            <a:r>
              <a:rPr lang="en-US" dirty="0"/>
              <a:t>Selected Company</a:t>
            </a:r>
          </a:p>
          <a:p>
            <a:r>
              <a:rPr lang="en-US" dirty="0"/>
              <a:t>Website Audit – Design &amp; UX</a:t>
            </a:r>
          </a:p>
          <a:p>
            <a:r>
              <a:rPr lang="en-US" dirty="0"/>
              <a:t>Website Audit – SEO Analysis</a:t>
            </a:r>
          </a:p>
          <a:p>
            <a:r>
              <a:rPr lang="en-US" dirty="0"/>
              <a:t>Digital Marketing Analysis</a:t>
            </a:r>
          </a:p>
          <a:p>
            <a:r>
              <a:rPr lang="en-US" dirty="0"/>
              <a:t>Digital Marketing Strategy Recommendations</a:t>
            </a:r>
          </a:p>
          <a:p>
            <a:r>
              <a:rPr lang="en-US" dirty="0"/>
              <a:t>Landing Page / Website Design Mockup</a:t>
            </a:r>
          </a:p>
          <a:p>
            <a:r>
              <a:rPr lang="en-US" dirty="0"/>
              <a:t>Expected Business Impact</a:t>
            </a:r>
          </a:p>
          <a:p>
            <a:r>
              <a:rPr lang="en-US" dirty="0"/>
              <a:t>Conclusion &amp; Learnings</a:t>
            </a:r>
          </a:p>
          <a:p>
            <a:r>
              <a:rPr lang="en-IN" dirty="0"/>
              <a:t>References / Tools Used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AA7FF5-11CA-8F71-5951-B10993962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75912" y="6563001"/>
            <a:ext cx="2743200" cy="228600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85073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63CB3-2956-E8D2-C23D-A3BAA7295D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667512"/>
            <a:ext cx="4398264" cy="740664"/>
          </a:xfrm>
          <a:noFill/>
        </p:spPr>
        <p:txBody>
          <a:bodyPr>
            <a:noAutofit/>
          </a:bodyPr>
          <a:lstStyle/>
          <a:p>
            <a:pPr algn="l"/>
            <a:r>
              <a:rPr lang="en-IN" sz="3600" dirty="0"/>
              <a:t>PROJECT OVERVIEW</a:t>
            </a:r>
            <a:endParaRPr lang="en-US" sz="36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ECEBD4-35BF-26BB-D438-DA43EBD5EE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0312" y="1536192"/>
            <a:ext cx="11823192" cy="3099816"/>
          </a:xfrm>
          <a:noFill/>
        </p:spPr>
        <p:txBody>
          <a:bodyPr>
            <a:noAutofit/>
          </a:bodyPr>
          <a:lstStyle/>
          <a:p>
            <a:pPr marL="457200" indent="-457200" algn="l">
              <a:buFont typeface="Wingdings" panose="05000000000000000000" pitchFamily="2" charset="2"/>
              <a:buChar char="v"/>
            </a:pPr>
            <a:r>
              <a:rPr lang="en-US" sz="1800" dirty="0"/>
              <a:t>In today’s digital-first business environment, a strong and optimized web presence is essential for attracting, engaging, and converting customers.</a:t>
            </a:r>
          </a:p>
          <a:p>
            <a:pPr marL="457200" indent="-457200" algn="l">
              <a:buFont typeface="Wingdings" panose="05000000000000000000" pitchFamily="2" charset="2"/>
              <a:buChar char="v"/>
            </a:pPr>
            <a:r>
              <a:rPr lang="en-US" sz="1800" dirty="0"/>
              <a:t>Many organizations struggle to achieve this due to ineffective website design, unclear digital marketing strategies, and poor search engine visibility.</a:t>
            </a:r>
          </a:p>
          <a:p>
            <a:pPr marL="457200" indent="-457200" algn="l">
              <a:buFont typeface="Wingdings" panose="05000000000000000000" pitchFamily="2" charset="2"/>
              <a:buChar char="v"/>
            </a:pPr>
            <a:r>
              <a:rPr lang="en-US" sz="1800" dirty="0"/>
              <a:t>Strengthen understanding of digital marketing fundamentals.</a:t>
            </a:r>
          </a:p>
          <a:p>
            <a:pPr marL="457200" indent="-457200" algn="l">
              <a:buFont typeface="Wingdings" panose="05000000000000000000" pitchFamily="2" charset="2"/>
              <a:buChar char="v"/>
            </a:pPr>
            <a:r>
              <a:rPr lang="en-US" sz="1800" dirty="0"/>
              <a:t>Gain practical experience in website and SEO auditing.</a:t>
            </a:r>
          </a:p>
          <a:p>
            <a:pPr marL="457200" indent="-457200" algn="l">
              <a:buFont typeface="Wingdings" panose="05000000000000000000" pitchFamily="2" charset="2"/>
              <a:buChar char="v"/>
            </a:pPr>
            <a:r>
              <a:rPr lang="en-US" sz="1800" dirty="0"/>
              <a:t>Apply strategic recommendations to enhance web performance and marketing ROI.</a:t>
            </a:r>
          </a:p>
          <a:p>
            <a:pPr marL="457200" indent="-457200" algn="l">
              <a:buFont typeface="Wingdings" panose="05000000000000000000" pitchFamily="2" charset="2"/>
              <a:buChar char="v"/>
            </a:pPr>
            <a:r>
              <a:rPr lang="en-US" sz="1800" dirty="0"/>
              <a:t>Build a conversion-oriented landing page aligned with brand and audience needs</a:t>
            </a:r>
          </a:p>
          <a:p>
            <a:pPr marL="457200" indent="-457200" algn="l">
              <a:buFont typeface="Wingdings" panose="05000000000000000000" pitchFamily="2" charset="2"/>
              <a:buChar char="v"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185038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33000">
              <a:schemeClr val="bg2"/>
            </a:gs>
            <a:gs pos="59000">
              <a:schemeClr val="tx2">
                <a:lumMod val="90000"/>
                <a:alpha val="65163"/>
              </a:schemeClr>
            </a:gs>
          </a:gsLst>
          <a:lin ang="19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5F5E3-2B1C-7C0A-8581-67A9052D13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904" y="406908"/>
            <a:ext cx="6089904" cy="978408"/>
          </a:xfrm>
          <a:noFill/>
        </p:spPr>
        <p:txBody>
          <a:bodyPr anchor="b">
            <a:noAutofit/>
          </a:bodyPr>
          <a:lstStyle/>
          <a:p>
            <a:r>
              <a:rPr lang="en-US" dirty="0"/>
              <a:t>COMPANY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33159-D030-2F82-A142-F759407283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2112" y="1394460"/>
            <a:ext cx="8028432" cy="4069080"/>
          </a:xfrm>
          <a:noFill/>
        </p:spPr>
        <p:txBody>
          <a:bodyPr>
            <a:no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sz="1800" dirty="0">
                <a:solidFill>
                  <a:srgbClr val="C00000"/>
                </a:solidFill>
              </a:rPr>
              <a:t>Name: </a:t>
            </a:r>
            <a:r>
              <a:rPr lang="en-US" sz="1800" dirty="0"/>
              <a:t>Kissflow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sz="1800" dirty="0">
                <a:solidFill>
                  <a:srgbClr val="C00000"/>
                </a:solidFill>
              </a:rPr>
              <a:t>Industry: </a:t>
            </a:r>
            <a:r>
              <a:rPr lang="en-US" sz="1800" dirty="0"/>
              <a:t>Low-code / No-code enterprise application &amp; workflow automation platform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sz="1800" dirty="0">
                <a:solidFill>
                  <a:srgbClr val="C00000"/>
                </a:solidFill>
              </a:rPr>
              <a:t>Website: </a:t>
            </a:r>
            <a:r>
              <a:rPr lang="en-US" sz="1800" dirty="0">
                <a:hlinkClick r:id="rId2"/>
              </a:rPr>
              <a:t>https://kissflow.com/</a:t>
            </a:r>
            <a:endParaRPr lang="en-US" sz="1800" dirty="0"/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sz="1800" dirty="0">
                <a:solidFill>
                  <a:srgbClr val="C00000"/>
                </a:solidFill>
              </a:rPr>
              <a:t>Description: </a:t>
            </a:r>
            <a:r>
              <a:rPr lang="en-US" sz="1800" dirty="0"/>
              <a:t>Kissflow provides a platform for building custom enterprise applications, workflow automation, case management and digital transformation initiatives  combining low-code / no-code capabilities with governance and scalability.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sz="1800" dirty="0">
                <a:solidFill>
                  <a:srgbClr val="C00000"/>
                </a:solidFill>
              </a:rPr>
              <a:t>Target Audience: </a:t>
            </a:r>
            <a:r>
              <a:rPr lang="en-US" sz="1800" dirty="0"/>
              <a:t>IT &amp; operations teams in enterprises, business users who need to automate processes without heavy coding, departments that require workflow orchestration, citizen developers, process owners.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D7B9109-9E17-1A7A-3A9A-0F1C07BF3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75912" y="6563001"/>
            <a:ext cx="2743200" cy="228600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66746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ABE40-AA00-F366-A36A-B3F1AADB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04872" y="1344168"/>
            <a:ext cx="7004304" cy="1097280"/>
          </a:xfrm>
          <a:noFill/>
        </p:spPr>
        <p:txBody>
          <a:bodyPr>
            <a:noAutofit/>
          </a:bodyPr>
          <a:lstStyle/>
          <a:p>
            <a:r>
              <a:rPr lang="en-US" dirty="0"/>
              <a:t>Website Audit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446868-83F0-CEEF-5E60-6D55C93B52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16351" y="2674620"/>
            <a:ext cx="7004303" cy="580644"/>
          </a:xfrm>
          <a:noFill/>
        </p:spPr>
        <p:txBody>
          <a:bodyPr>
            <a:noAutofit/>
          </a:bodyPr>
          <a:lstStyle/>
          <a:p>
            <a:r>
              <a:rPr lang="en-US" dirty="0"/>
              <a:t>Design &amp; User Experience</a:t>
            </a:r>
          </a:p>
        </p:txBody>
      </p:sp>
    </p:spTree>
    <p:extLst>
      <p:ext uri="{BB962C8B-B14F-4D97-AF65-F5344CB8AC3E}">
        <p14:creationId xmlns:p14="http://schemas.microsoft.com/office/powerpoint/2010/main" val="13717375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CE77A-01AA-2A20-85F9-46D4F3629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D7CC61A-0E8A-5E13-5272-15B6216FDF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5818356"/>
              </p:ext>
            </p:extLst>
          </p:nvPr>
        </p:nvGraphicFramePr>
        <p:xfrm>
          <a:off x="283464" y="274320"/>
          <a:ext cx="11521440" cy="5888737"/>
        </p:xfrm>
        <a:graphic>
          <a:graphicData uri="http://schemas.openxmlformats.org/drawingml/2006/table">
            <a:tbl>
              <a:tblPr/>
              <a:tblGrid>
                <a:gridCol w="2880360">
                  <a:extLst>
                    <a:ext uri="{9D8B030D-6E8A-4147-A177-3AD203B41FA5}">
                      <a16:colId xmlns:a16="http://schemas.microsoft.com/office/drawing/2014/main" val="2524137089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620095474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3904980216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1371139565"/>
                    </a:ext>
                  </a:extLst>
                </a:gridCol>
              </a:tblGrid>
              <a:tr h="21836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 b="1" dirty="0">
                          <a:latin typeface="Arial Black" panose="020B0A04020102020204" pitchFamily="34" charset="0"/>
                        </a:rPr>
                        <a:t>Factor</a:t>
                      </a:r>
                      <a:endParaRPr lang="en-IN" sz="1000" dirty="0">
                        <a:latin typeface="Arial Black" panose="020B0A04020102020204" pitchFamily="34" charset="0"/>
                      </a:endParaRPr>
                    </a:p>
                  </a:txBody>
                  <a:tcPr marL="39558" marR="39558" marT="19779" marB="197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 b="1" dirty="0">
                          <a:latin typeface="Arial Black" panose="020B0A04020102020204" pitchFamily="34" charset="0"/>
                        </a:rPr>
                        <a:t>Observation</a:t>
                      </a:r>
                      <a:endParaRPr lang="en-IN" sz="1000" dirty="0">
                        <a:latin typeface="Arial Black" panose="020B0A04020102020204" pitchFamily="34" charset="0"/>
                      </a:endParaRPr>
                    </a:p>
                  </a:txBody>
                  <a:tcPr marL="39558" marR="39558" marT="19779" marB="197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 b="1" dirty="0">
                          <a:latin typeface="Arial Black" panose="020B0A04020102020204" pitchFamily="34" charset="0"/>
                        </a:rPr>
                        <a:t>Issue</a:t>
                      </a:r>
                      <a:endParaRPr lang="en-IN" sz="1000" dirty="0">
                        <a:latin typeface="Arial Black" panose="020B0A04020102020204" pitchFamily="34" charset="0"/>
                      </a:endParaRPr>
                    </a:p>
                  </a:txBody>
                  <a:tcPr marL="39558" marR="39558" marT="19779" marB="197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000" b="1" dirty="0">
                          <a:latin typeface="Arial Black" panose="020B0A04020102020204" pitchFamily="34" charset="0"/>
                        </a:rPr>
                        <a:t>Recommendation</a:t>
                      </a:r>
                      <a:endParaRPr lang="en-IN" sz="1000" dirty="0">
                        <a:latin typeface="Arial Black" panose="020B0A04020102020204" pitchFamily="34" charset="0"/>
                      </a:endParaRPr>
                    </a:p>
                  </a:txBody>
                  <a:tcPr marL="39558" marR="39558" marT="19779" marB="197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4502139"/>
                  </a:ext>
                </a:extLst>
              </a:tr>
              <a:tr h="13373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 dirty="0">
                          <a:solidFill>
                            <a:srgbClr val="C00000"/>
                          </a:solidFill>
                        </a:rPr>
                        <a:t>Page Speed</a:t>
                      </a:r>
                      <a:endParaRPr lang="en-IN" sz="1000" dirty="0">
                        <a:solidFill>
                          <a:srgbClr val="C00000"/>
                        </a:solidFill>
                      </a:endParaRPr>
                    </a:p>
                  </a:txBody>
                  <a:tcPr marL="39558" marR="39558" marT="19779" marB="197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The homepage loads in around </a:t>
                      </a: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3.8 seconds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 (tested via  </a:t>
                      </a:r>
                      <a:r>
                        <a:rPr lang="en-US" sz="1000" dirty="0" err="1">
                          <a:solidFill>
                            <a:schemeClr val="tx1"/>
                          </a:solidFill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PageSpeed.web.dev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 ) with a performance score of </a:t>
                      </a: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72/100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 on desktop and </a:t>
                      </a:r>
                      <a:r>
                        <a:rPr lang="en-US" sz="1000" b="1" dirty="0">
                          <a:solidFill>
                            <a:schemeClr val="tx1"/>
                          </a:solidFill>
                        </a:rPr>
                        <a:t>59/100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 on mobile.</a:t>
                      </a:r>
                    </a:p>
                  </a:txBody>
                  <a:tcPr marL="39558" marR="39558" marT="19779" marB="197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Moderate loading time may affect mobile user retention.</a:t>
                      </a:r>
                    </a:p>
                  </a:txBody>
                  <a:tcPr marL="39558" marR="39558" marT="19779" marB="197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Compress large images, enable browser caching, and use a CDN for faster global delivery.</a:t>
                      </a:r>
                    </a:p>
                  </a:txBody>
                  <a:tcPr marL="39558" marR="39558" marT="19779" marB="197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0555717"/>
                  </a:ext>
                </a:extLst>
              </a:tr>
              <a:tr h="6954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>
                          <a:solidFill>
                            <a:srgbClr val="C00000"/>
                          </a:solidFill>
                        </a:rPr>
                        <a:t>Navigation</a:t>
                      </a:r>
                      <a:endParaRPr lang="en-IN" sz="1000">
                        <a:solidFill>
                          <a:srgbClr val="C00000"/>
                        </a:solidFill>
                      </a:endParaRPr>
                    </a:p>
                  </a:txBody>
                  <a:tcPr marL="39558" marR="39558" marT="19779" marB="197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Main menu has clear sections: </a:t>
                      </a:r>
                      <a:r>
                        <a:rPr lang="en-US" sz="1000" i="1" dirty="0">
                          <a:solidFill>
                            <a:schemeClr val="tx1"/>
                          </a:solidFill>
                        </a:rPr>
                        <a:t>Products, Solutions, Pricing, Resources, Company.</a:t>
                      </a:r>
                      <a:endParaRPr 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marL="39558" marR="39558" marT="19779" marB="197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solidFill>
                            <a:schemeClr val="tx1"/>
                          </a:solidFill>
                        </a:rPr>
                        <a:t>Slightly overwhelming dropdowns with multiple options might confuse new visitors.</a:t>
                      </a:r>
                    </a:p>
                  </a:txBody>
                  <a:tcPr marL="39558" marR="39558" marT="19779" marB="197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solidFill>
                            <a:schemeClr val="tx1"/>
                          </a:solidFill>
                        </a:rPr>
                        <a:t>Simplify dropdown menus and consider a “mega menu” layout to enhance clarity.</a:t>
                      </a:r>
                    </a:p>
                  </a:txBody>
                  <a:tcPr marL="39558" marR="39558" marT="19779" marB="197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0479672"/>
                  </a:ext>
                </a:extLst>
              </a:tr>
              <a:tr h="10163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>
                          <a:solidFill>
                            <a:srgbClr val="C00000"/>
                          </a:solidFill>
                        </a:rPr>
                        <a:t>Responsiveness</a:t>
                      </a:r>
                      <a:endParaRPr lang="en-IN" sz="1000">
                        <a:solidFill>
                          <a:srgbClr val="C00000"/>
                        </a:solidFill>
                      </a:endParaRPr>
                    </a:p>
                  </a:txBody>
                  <a:tcPr marL="39558" marR="39558" marT="19779" marB="197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The site adjusts well across desktop, tablet, and mobile screens. Tested using 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responsivedesignchecker.com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marL="39558" marR="39558" marT="19779" marB="197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Some minor spacing and alignment issues in the mobile footer area.</a:t>
                      </a:r>
                    </a:p>
                  </a:txBody>
                  <a:tcPr marL="39558" marR="39558" marT="19779" marB="197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solidFill>
                            <a:schemeClr val="tx1"/>
                          </a:solidFill>
                        </a:rPr>
                        <a:t>Optimize mobile padding and font scaling for better readability on smaller screens.</a:t>
                      </a:r>
                    </a:p>
                  </a:txBody>
                  <a:tcPr marL="39558" marR="39558" marT="19779" marB="197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2651360"/>
                  </a:ext>
                </a:extLst>
              </a:tr>
              <a:tr h="6954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>
                          <a:solidFill>
                            <a:srgbClr val="C00000"/>
                          </a:solidFill>
                        </a:rPr>
                        <a:t>Visual Design</a:t>
                      </a:r>
                      <a:endParaRPr lang="en-IN" sz="1000">
                        <a:solidFill>
                          <a:srgbClr val="C00000"/>
                        </a:solidFill>
                      </a:endParaRPr>
                    </a:p>
                  </a:txBody>
                  <a:tcPr marL="39558" marR="39558" marT="19779" marB="197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solidFill>
                            <a:schemeClr val="tx1"/>
                          </a:solidFill>
                        </a:rPr>
                        <a:t>Consistent color palette (blue, purple, white) aligned with brand identity.</a:t>
                      </a:r>
                    </a:p>
                  </a:txBody>
                  <a:tcPr marL="39558" marR="39558" marT="19779" marB="197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Hero section could use a stronger visual hierarchy for CTAs.</a:t>
                      </a:r>
                    </a:p>
                  </a:txBody>
                  <a:tcPr marL="39558" marR="39558" marT="19779" marB="197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solidFill>
                            <a:schemeClr val="tx1"/>
                          </a:solidFill>
                        </a:rPr>
                        <a:t>Make the primary CTA (“Get Started” / “Book a Demo”) more prominent with a contrasting color.</a:t>
                      </a:r>
                    </a:p>
                  </a:txBody>
                  <a:tcPr marL="39558" marR="39558" marT="19779" marB="197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9372870"/>
                  </a:ext>
                </a:extLst>
              </a:tr>
              <a:tr h="6954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>
                          <a:solidFill>
                            <a:srgbClr val="C00000"/>
                          </a:solidFill>
                        </a:rPr>
                        <a:t>Content Layout</a:t>
                      </a:r>
                      <a:endParaRPr lang="en-IN" sz="1000">
                        <a:solidFill>
                          <a:srgbClr val="C00000"/>
                        </a:solidFill>
                      </a:endParaRPr>
                    </a:p>
                  </a:txBody>
                  <a:tcPr marL="39558" marR="39558" marT="19779" marB="197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solidFill>
                            <a:schemeClr val="tx1"/>
                          </a:solidFill>
                        </a:rPr>
                        <a:t>Well-structured sections highlighting features, solutions, and case studies.</a:t>
                      </a:r>
                    </a:p>
                  </a:txBody>
                  <a:tcPr marL="39558" marR="39558" marT="19779" marB="197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Some pages contain heavy text blocks.</a:t>
                      </a:r>
                    </a:p>
                  </a:txBody>
                  <a:tcPr marL="39558" marR="39558" marT="19779" marB="197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Break long paragraphs into bullet points; add icons or visuals for easier scanning.</a:t>
                      </a:r>
                    </a:p>
                  </a:txBody>
                  <a:tcPr marL="39558" marR="39558" marT="19779" marB="197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7593417"/>
                  </a:ext>
                </a:extLst>
              </a:tr>
              <a:tr h="5349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>
                          <a:solidFill>
                            <a:srgbClr val="C00000"/>
                          </a:solidFill>
                        </a:rPr>
                        <a:t>Accessibility</a:t>
                      </a:r>
                      <a:endParaRPr lang="en-IN" sz="1000">
                        <a:solidFill>
                          <a:srgbClr val="C00000"/>
                        </a:solidFill>
                      </a:endParaRPr>
                    </a:p>
                  </a:txBody>
                  <a:tcPr marL="39558" marR="39558" marT="19779" marB="197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solidFill>
                            <a:schemeClr val="tx1"/>
                          </a:solidFill>
                        </a:rPr>
                        <a:t>Text contrast is readable; images have alt text for accessibility.</a:t>
                      </a:r>
                    </a:p>
                  </a:txBody>
                  <a:tcPr marL="39558" marR="39558" marT="19779" marB="197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Some CTA buttons lack descriptive ARIA labels for screen readers.</a:t>
                      </a:r>
                    </a:p>
                  </a:txBody>
                  <a:tcPr marL="39558" marR="39558" marT="19779" marB="197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Add accessibility tags (ARIA labels) to all interactive elements.</a:t>
                      </a:r>
                    </a:p>
                  </a:txBody>
                  <a:tcPr marL="39558" marR="39558" marT="19779" marB="197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1024694"/>
                  </a:ext>
                </a:extLst>
              </a:tr>
              <a:tr h="6954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 dirty="0">
                          <a:solidFill>
                            <a:srgbClr val="C00000"/>
                          </a:solidFill>
                        </a:rPr>
                        <a:t>Interactivity &amp; Engagement</a:t>
                      </a:r>
                      <a:endParaRPr lang="en-IN" sz="1000" dirty="0">
                        <a:solidFill>
                          <a:srgbClr val="C00000"/>
                        </a:solidFill>
                      </a:endParaRPr>
                    </a:p>
                  </a:txBody>
                  <a:tcPr marL="39558" marR="39558" marT="19779" marB="197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>
                          <a:solidFill>
                            <a:schemeClr val="tx1"/>
                          </a:solidFill>
                        </a:rPr>
                        <a:t>Contains videos, customer logos, and testimonials.</a:t>
                      </a:r>
                    </a:p>
                  </a:txBody>
                  <a:tcPr marL="39558" marR="39558" marT="19779" marB="197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solidFill>
                            <a:schemeClr val="tx1"/>
                          </a:solidFill>
                        </a:rPr>
                        <a:t>Limited use of interactive demos or product previews.</a:t>
                      </a:r>
                    </a:p>
                  </a:txBody>
                  <a:tcPr marL="39558" marR="39558" marT="19779" marB="197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Add short interactive elements (like product walkthroughs or tooltips) to engage users.</a:t>
                      </a:r>
                    </a:p>
                  </a:txBody>
                  <a:tcPr marL="39558" marR="39558" marT="19779" marB="1977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27016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158155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C2459-17E2-6C76-2672-AA4B266A0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481F6-4C7E-4729-FBFD-92F591536F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04872" y="1344168"/>
            <a:ext cx="7004304" cy="1097280"/>
          </a:xfrm>
          <a:noFill/>
        </p:spPr>
        <p:txBody>
          <a:bodyPr>
            <a:noAutofit/>
          </a:bodyPr>
          <a:lstStyle/>
          <a:p>
            <a:r>
              <a:rPr lang="en-US" dirty="0"/>
              <a:t>Website Audit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E4D740-94AF-55B2-CE4D-CA2A2DFB5E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84831" y="2638044"/>
            <a:ext cx="7004303" cy="580644"/>
          </a:xfrm>
          <a:noFill/>
        </p:spPr>
        <p:txBody>
          <a:bodyPr>
            <a:noAutofit/>
          </a:bodyPr>
          <a:lstStyle/>
          <a:p>
            <a:r>
              <a:rPr lang="en-US" dirty="0"/>
              <a:t>SEO Audit</a:t>
            </a:r>
          </a:p>
        </p:txBody>
      </p:sp>
    </p:spTree>
    <p:extLst>
      <p:ext uri="{BB962C8B-B14F-4D97-AF65-F5344CB8AC3E}">
        <p14:creationId xmlns:p14="http://schemas.microsoft.com/office/powerpoint/2010/main" val="41407785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B11EA-4A2B-09AD-11F4-6B36BEF3F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7B00057-0F80-00D4-C1F5-29B95966B7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0286270"/>
              </p:ext>
            </p:extLst>
          </p:nvPr>
        </p:nvGraphicFramePr>
        <p:xfrm>
          <a:off x="164592" y="201168"/>
          <a:ext cx="11420856" cy="5891797"/>
        </p:xfrm>
        <a:graphic>
          <a:graphicData uri="http://schemas.openxmlformats.org/drawingml/2006/table">
            <a:tbl>
              <a:tblPr/>
              <a:tblGrid>
                <a:gridCol w="2855214">
                  <a:extLst>
                    <a:ext uri="{9D8B030D-6E8A-4147-A177-3AD203B41FA5}">
                      <a16:colId xmlns:a16="http://schemas.microsoft.com/office/drawing/2014/main" val="889575482"/>
                    </a:ext>
                  </a:extLst>
                </a:gridCol>
                <a:gridCol w="2855214">
                  <a:extLst>
                    <a:ext uri="{9D8B030D-6E8A-4147-A177-3AD203B41FA5}">
                      <a16:colId xmlns:a16="http://schemas.microsoft.com/office/drawing/2014/main" val="1070579231"/>
                    </a:ext>
                  </a:extLst>
                </a:gridCol>
                <a:gridCol w="2855214">
                  <a:extLst>
                    <a:ext uri="{9D8B030D-6E8A-4147-A177-3AD203B41FA5}">
                      <a16:colId xmlns:a16="http://schemas.microsoft.com/office/drawing/2014/main" val="745026437"/>
                    </a:ext>
                  </a:extLst>
                </a:gridCol>
                <a:gridCol w="2855214">
                  <a:extLst>
                    <a:ext uri="{9D8B030D-6E8A-4147-A177-3AD203B41FA5}">
                      <a16:colId xmlns:a16="http://schemas.microsoft.com/office/drawing/2014/main" val="4069865870"/>
                    </a:ext>
                  </a:extLst>
                </a:gridCol>
              </a:tblGrid>
              <a:tr h="22003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b="1" dirty="0"/>
                        <a:t>SEO Element</a:t>
                      </a:r>
                      <a:endParaRPr lang="en-IN" sz="1200" dirty="0"/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b="1" dirty="0"/>
                        <a:t>Observation</a:t>
                      </a:r>
                      <a:endParaRPr lang="en-IN" sz="1200" dirty="0"/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b="1" dirty="0"/>
                        <a:t>Issue</a:t>
                      </a:r>
                      <a:endParaRPr lang="en-IN" sz="1200" dirty="0"/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b="1" dirty="0"/>
                        <a:t>Recommendation</a:t>
                      </a:r>
                      <a:endParaRPr lang="en-IN" sz="1200" dirty="0"/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932949"/>
                  </a:ext>
                </a:extLst>
              </a:tr>
              <a:tr h="8380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 dirty="0">
                          <a:solidFill>
                            <a:srgbClr val="FF0000"/>
                          </a:solidFill>
                        </a:rPr>
                        <a:t>Title Tags</a:t>
                      </a:r>
                    </a:p>
                    <a:p>
                      <a:pPr>
                        <a:buNone/>
                      </a:pPr>
                      <a:r>
                        <a:rPr lang="en-IN" sz="1100" dirty="0"/>
                        <a:t>Rankmath Seo Analyser</a:t>
                      </a:r>
                    </a:p>
                    <a:p>
                      <a:pPr>
                        <a:buNone/>
                      </a:pPr>
                      <a:endParaRPr lang="en-IN" sz="1100" dirty="0"/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Each page has unique, keyword-based titles like </a:t>
                      </a:r>
                      <a:r>
                        <a:rPr lang="en-US" sz="1100" i="1" dirty="0"/>
                        <a:t>“Kissflow – Workflow Automation Software.”</a:t>
                      </a:r>
                      <a:endParaRPr lang="en-US" sz="1100" dirty="0"/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Some titles exceed ideal length (60 characters).</a:t>
                      </a:r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Shorten and make titles more action-oriented (e.g., </a:t>
                      </a:r>
                      <a:r>
                        <a:rPr lang="en-US" sz="1100" i="1"/>
                        <a:t>“Kissflow: Automate Workflows Easily”</a:t>
                      </a:r>
                      <a:r>
                        <a:rPr lang="en-US" sz="1100"/>
                        <a:t>).</a:t>
                      </a:r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2659906"/>
                  </a:ext>
                </a:extLst>
              </a:tr>
              <a:tr h="5237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 dirty="0">
                          <a:solidFill>
                            <a:srgbClr val="FF0000"/>
                          </a:solidFill>
                        </a:rPr>
                        <a:t>Meta Descriptions</a:t>
                      </a:r>
                    </a:p>
                    <a:p>
                      <a:pPr>
                        <a:buNone/>
                      </a:pPr>
                      <a:r>
                        <a:rPr lang="en-IN" sz="1100" dirty="0"/>
                        <a:t>SEO Meta in 1 Click</a:t>
                      </a:r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Clear and relevant; describe products and services effectively.</a:t>
                      </a:r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A few pages lack optimized meta descriptions.</a:t>
                      </a:r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Add keyword-rich meta descriptions (under 160 characters).</a:t>
                      </a:r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5472964"/>
                  </a:ext>
                </a:extLst>
              </a:tr>
              <a:tr h="6809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 dirty="0">
                          <a:solidFill>
                            <a:srgbClr val="FF0000"/>
                          </a:solidFill>
                        </a:rPr>
                        <a:t>Headings (H1, H2)</a:t>
                      </a:r>
                    </a:p>
                    <a:p>
                      <a:pPr>
                        <a:buNone/>
                      </a:pPr>
                      <a:r>
                        <a:rPr lang="en-IN" sz="1100" dirty="0"/>
                        <a:t>SEO Audit Tool</a:t>
                      </a:r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Proper hierarchy with descriptive H1 tags (e.g., “Digital Workplace Platform”).</a:t>
                      </a:r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Multiple H1s found on some pages.</a:t>
                      </a:r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Limit to one H1 per page and use H2/H3 for structure.</a:t>
                      </a:r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754728"/>
                  </a:ext>
                </a:extLst>
              </a:tr>
              <a:tr h="8380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 dirty="0">
                          <a:solidFill>
                            <a:srgbClr val="FF0000"/>
                          </a:solidFill>
                        </a:rPr>
                        <a:t>Keywords</a:t>
                      </a:r>
                    </a:p>
                    <a:p>
                      <a:pPr>
                        <a:buNone/>
                      </a:pPr>
                      <a:r>
                        <a:rPr lang="en-IN" sz="1100" dirty="0"/>
                        <a:t>Google Keyword Planner</a:t>
                      </a:r>
                      <a:endParaRPr lang="en-IN" sz="1100" b="1" dirty="0"/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Uses relevant keywords like </a:t>
                      </a:r>
                      <a:r>
                        <a:rPr lang="en-US" sz="1100" i="1" dirty="0"/>
                        <a:t>workflow automation</a:t>
                      </a:r>
                      <a:r>
                        <a:rPr lang="en-US" sz="1100" dirty="0"/>
                        <a:t>, </a:t>
                      </a:r>
                      <a:r>
                        <a:rPr lang="en-US" sz="1100" i="1" dirty="0"/>
                        <a:t>low-code platform</a:t>
                      </a:r>
                      <a:r>
                        <a:rPr lang="en-US" sz="1100" dirty="0"/>
                        <a:t>, </a:t>
                      </a:r>
                      <a:r>
                        <a:rPr lang="en-US" sz="1100" i="1" dirty="0"/>
                        <a:t>process management.</a:t>
                      </a:r>
                      <a:endParaRPr lang="en-US" sz="1100" dirty="0"/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Missing long-tail keywords for niche topics.</a:t>
                      </a:r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Integrate more long-tail keywords (e.g., </a:t>
                      </a:r>
                      <a:r>
                        <a:rPr lang="en-US" sz="1100" i="1"/>
                        <a:t>“no-code workflow builder for enterprises”</a:t>
                      </a:r>
                      <a:r>
                        <a:rPr lang="en-US" sz="1100"/>
                        <a:t>).</a:t>
                      </a:r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4542484"/>
                  </a:ext>
                </a:extLst>
              </a:tr>
              <a:tr h="5237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 dirty="0">
                          <a:solidFill>
                            <a:srgbClr val="FF0000"/>
                          </a:solidFill>
                        </a:rPr>
                        <a:t>Image Optimization</a:t>
                      </a:r>
                    </a:p>
                    <a:p>
                      <a:pPr>
                        <a:buNone/>
                      </a:pPr>
                      <a:r>
                        <a:rPr lang="en-IN" sz="1100" dirty="0"/>
                        <a:t>Google Page Speed Insights</a:t>
                      </a:r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Images are high quality and contain alt text.</a:t>
                      </a:r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Some large images slow down mobile load speed.</a:t>
                      </a:r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Compress images and use </a:t>
                      </a:r>
                      <a:r>
                        <a:rPr lang="en-US" sz="1100" dirty="0" err="1"/>
                        <a:t>WebP</a:t>
                      </a:r>
                      <a:r>
                        <a:rPr lang="en-US" sz="1100" dirty="0"/>
                        <a:t> format for faster loading.</a:t>
                      </a:r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9380120"/>
                  </a:ext>
                </a:extLst>
              </a:tr>
              <a:tr h="5237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 dirty="0">
                          <a:solidFill>
                            <a:srgbClr val="FF0000"/>
                          </a:solidFill>
                        </a:rPr>
                        <a:t>Internal Linking</a:t>
                      </a:r>
                    </a:p>
                    <a:p>
                      <a:pPr>
                        <a:buNone/>
                      </a:pPr>
                      <a:r>
                        <a:rPr lang="en-IN" sz="1100" dirty="0"/>
                        <a:t>yoast.com</a:t>
                      </a:r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Strong internal linking between product and solution pages.</a:t>
                      </a:r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Few contextual links in blog posts.</a:t>
                      </a:r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Add more internal links to drive SEO authority to key pages.</a:t>
                      </a:r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5001181"/>
                  </a:ext>
                </a:extLst>
              </a:tr>
              <a:tr h="6809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 dirty="0">
                          <a:solidFill>
                            <a:srgbClr val="FF0000"/>
                          </a:solidFill>
                        </a:rPr>
                        <a:t>Backlinks</a:t>
                      </a:r>
                    </a:p>
                    <a:p>
                      <a:pPr>
                        <a:buNone/>
                      </a:pPr>
                      <a:r>
                        <a:rPr lang="en-IN" sz="1100" dirty="0"/>
                        <a:t>Ubersuggest</a:t>
                      </a:r>
                    </a:p>
                    <a:p>
                      <a:pPr>
                        <a:buNone/>
                      </a:pPr>
                      <a:endParaRPr lang="en-IN" sz="1100" dirty="0"/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Good number of backlinks from reputable tech blogs and review sites.</a:t>
                      </a:r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Limited .</a:t>
                      </a:r>
                      <a:r>
                        <a:rPr lang="en-US" sz="1100" dirty="0" err="1"/>
                        <a:t>edu</a:t>
                      </a:r>
                      <a:r>
                        <a:rPr lang="en-US" sz="1100" dirty="0"/>
                        <a:t>/.gov or high-authority domain backlinks.</a:t>
                      </a:r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Improve off-page SEO with guest posts and partnerships.</a:t>
                      </a:r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2719014"/>
                  </a:ext>
                </a:extLst>
              </a:tr>
              <a:tr h="5237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 dirty="0">
                          <a:solidFill>
                            <a:srgbClr val="FF0000"/>
                          </a:solidFill>
                        </a:rPr>
                        <a:t>URL Structure</a:t>
                      </a:r>
                    </a:p>
                    <a:p>
                      <a:pPr>
                        <a:buNone/>
                      </a:pPr>
                      <a:r>
                        <a:rPr lang="en-IN" sz="1100" dirty="0"/>
                        <a:t>Google SEO Guidelines</a:t>
                      </a:r>
                    </a:p>
                    <a:p>
                      <a:pPr>
                        <a:buNone/>
                      </a:pPr>
                      <a:endParaRPr lang="en-IN" sz="1100" dirty="0"/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Clean and descriptive URLs (e.g., /workflow-automation/).</a:t>
                      </a:r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Some URLs slightly long with extra words.</a:t>
                      </a:r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Keep URLs concise and keyword-focused.</a:t>
                      </a:r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8285546"/>
                  </a:ext>
                </a:extLst>
              </a:tr>
              <a:tr h="5237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 dirty="0">
                          <a:solidFill>
                            <a:srgbClr val="FF0000"/>
                          </a:solidFill>
                        </a:rPr>
                        <a:t>Schema Markup</a:t>
                      </a:r>
                    </a:p>
                    <a:p>
                      <a:pPr>
                        <a:buNone/>
                      </a:pPr>
                      <a:r>
                        <a:rPr lang="en-IN" sz="1100" dirty="0"/>
                        <a:t>schema.org</a:t>
                      </a:r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Basic schema used for organization info.</a:t>
                      </a:r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Missing product and review schema.</a:t>
                      </a:r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Implement product &amp; review schema for better SERP visibility.</a:t>
                      </a:r>
                    </a:p>
                  </a:txBody>
                  <a:tcPr marL="35667" marR="35667" marT="17833" marB="1783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34393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91644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D89C2-D4D3-BF0C-2908-A93C8D3FD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CC78A-9DFE-FEB1-CA0D-6A838CA6D1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04872" y="1344168"/>
            <a:ext cx="7004304" cy="1097280"/>
          </a:xfrm>
          <a:noFill/>
        </p:spPr>
        <p:txBody>
          <a:bodyPr>
            <a:noAutofit/>
          </a:bodyPr>
          <a:lstStyle/>
          <a:p>
            <a:r>
              <a:rPr lang="en-IN" dirty="0"/>
              <a:t>Digital Marketing Analysis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039454-0481-78CB-9D34-905F0103D3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84831" y="2638044"/>
            <a:ext cx="7854697" cy="580644"/>
          </a:xfrm>
          <a:noFill/>
        </p:spPr>
        <p:txBody>
          <a:bodyPr>
            <a:noAutofit/>
          </a:bodyPr>
          <a:lstStyle/>
          <a:p>
            <a:r>
              <a:rPr lang="en-US" dirty="0"/>
              <a:t>Social Media Presence &amp; Summary</a:t>
            </a:r>
          </a:p>
        </p:txBody>
      </p:sp>
    </p:spTree>
    <p:extLst>
      <p:ext uri="{BB962C8B-B14F-4D97-AF65-F5344CB8AC3E}">
        <p14:creationId xmlns:p14="http://schemas.microsoft.com/office/powerpoint/2010/main" val="7760265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CDF23-E4D7-7FC0-0D65-9A329AFBC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0025C7A-E6D8-16D5-FE1D-FE03AA54D7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1704852"/>
              </p:ext>
            </p:extLst>
          </p:nvPr>
        </p:nvGraphicFramePr>
        <p:xfrm>
          <a:off x="345966" y="209270"/>
          <a:ext cx="11317188" cy="6054372"/>
        </p:xfrm>
        <a:graphic>
          <a:graphicData uri="http://schemas.openxmlformats.org/drawingml/2006/table">
            <a:tbl>
              <a:tblPr/>
              <a:tblGrid>
                <a:gridCol w="2552682">
                  <a:extLst>
                    <a:ext uri="{9D8B030D-6E8A-4147-A177-3AD203B41FA5}">
                      <a16:colId xmlns:a16="http://schemas.microsoft.com/office/drawing/2014/main" val="3902168675"/>
                    </a:ext>
                  </a:extLst>
                </a:gridCol>
                <a:gridCol w="3105912">
                  <a:extLst>
                    <a:ext uri="{9D8B030D-6E8A-4147-A177-3AD203B41FA5}">
                      <a16:colId xmlns:a16="http://schemas.microsoft.com/office/drawing/2014/main" val="3116128234"/>
                    </a:ext>
                  </a:extLst>
                </a:gridCol>
                <a:gridCol w="2829297">
                  <a:extLst>
                    <a:ext uri="{9D8B030D-6E8A-4147-A177-3AD203B41FA5}">
                      <a16:colId xmlns:a16="http://schemas.microsoft.com/office/drawing/2014/main" val="2003736067"/>
                    </a:ext>
                  </a:extLst>
                </a:gridCol>
                <a:gridCol w="2829297">
                  <a:extLst>
                    <a:ext uri="{9D8B030D-6E8A-4147-A177-3AD203B41FA5}">
                      <a16:colId xmlns:a16="http://schemas.microsoft.com/office/drawing/2014/main" val="682491936"/>
                    </a:ext>
                  </a:extLst>
                </a:gridCol>
              </a:tblGrid>
              <a:tr h="39223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/>
                        <a:t>Platform</a:t>
                      </a:r>
                      <a:endParaRPr lang="en-IN" sz="1400" dirty="0"/>
                    </a:p>
                  </a:txBody>
                  <a:tcPr marL="70183" marR="70183" marT="35091" marB="3509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/>
                        <a:t>Observation</a:t>
                      </a:r>
                      <a:endParaRPr lang="en-IN" sz="1400" dirty="0"/>
                    </a:p>
                  </a:txBody>
                  <a:tcPr marL="70183" marR="70183" marT="35091" marB="3509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/>
                        <a:t>Issue</a:t>
                      </a:r>
                      <a:endParaRPr lang="en-IN" sz="1400" dirty="0"/>
                    </a:p>
                  </a:txBody>
                  <a:tcPr marL="70183" marR="70183" marT="35091" marB="3509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/>
                        <a:t>Recommendation</a:t>
                      </a:r>
                      <a:endParaRPr lang="en-IN" sz="1400" dirty="0"/>
                    </a:p>
                  </a:txBody>
                  <a:tcPr marL="70183" marR="70183" marT="35091" marB="3509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2161287"/>
                  </a:ext>
                </a:extLst>
              </a:tr>
              <a:tr h="6873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>
                          <a:solidFill>
                            <a:srgbClr val="FF0000"/>
                          </a:solidFill>
                        </a:rPr>
                        <a:t>LinkedIn</a:t>
                      </a:r>
                    </a:p>
                    <a:p>
                      <a:pPr>
                        <a:buNone/>
                      </a:pPr>
                      <a:r>
                        <a:rPr lang="en-IN" sz="14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LinkedIn Analytics</a:t>
                      </a:r>
                    </a:p>
                  </a:txBody>
                  <a:tcPr marL="70183" marR="70183" marT="35091" marB="3509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Aptos Narrow" panose="020B0004020202020204" pitchFamily="34" charset="0"/>
                        </a:rPr>
                        <a:t>Active with regular updates and blogs.</a:t>
                      </a:r>
                    </a:p>
                  </a:txBody>
                  <a:tcPr marL="70183" marR="70183" marT="35091" marB="3509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Aptos Narrow" panose="020B0004020202020204" pitchFamily="34" charset="0"/>
                        </a:rPr>
                        <a:t>Engagement is average.</a:t>
                      </a:r>
                    </a:p>
                  </a:txBody>
                  <a:tcPr marL="70183" marR="70183" marT="35091" marB="3509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Aptos Narrow" panose="020B0004020202020204" pitchFamily="34" charset="0"/>
                        </a:rPr>
                        <a:t>Post more interactive and visual content.</a:t>
                      </a:r>
                    </a:p>
                  </a:txBody>
                  <a:tcPr marL="70183" marR="70183" marT="35091" marB="3509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9814223"/>
                  </a:ext>
                </a:extLst>
              </a:tr>
              <a:tr h="6873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>
                          <a:solidFill>
                            <a:srgbClr val="FF0000"/>
                          </a:solidFill>
                        </a:rPr>
                        <a:t>Twitter (X)</a:t>
                      </a:r>
                    </a:p>
                    <a:p>
                      <a:pPr>
                        <a:buNone/>
                      </a:pPr>
                      <a:r>
                        <a:rPr lang="en-IN" sz="14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X Analytics</a:t>
                      </a:r>
                    </a:p>
                  </a:txBody>
                  <a:tcPr marL="70183" marR="70183" marT="35091" marB="3509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Aptos Narrow" panose="020B0004020202020204" pitchFamily="34" charset="0"/>
                        </a:rPr>
                        <a:t>Shares news and updates.</a:t>
                      </a:r>
                    </a:p>
                  </a:txBody>
                  <a:tcPr marL="70183" marR="70183" marT="35091" marB="3509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Aptos Narrow" panose="020B0004020202020204" pitchFamily="34" charset="0"/>
                        </a:rPr>
                        <a:t>Low engagement rate.</a:t>
                      </a:r>
                    </a:p>
                  </a:txBody>
                  <a:tcPr marL="70183" marR="70183" marT="35091" marB="3509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Aptos Narrow" panose="020B0004020202020204" pitchFamily="34" charset="0"/>
                        </a:rPr>
                        <a:t>Use more hashtags and reply to followers.</a:t>
                      </a:r>
                    </a:p>
                  </a:txBody>
                  <a:tcPr marL="70183" marR="70183" marT="35091" marB="3509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6979222"/>
                  </a:ext>
                </a:extLst>
              </a:tr>
              <a:tr h="6873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>
                          <a:solidFill>
                            <a:srgbClr val="FF0000"/>
                          </a:solidFill>
                        </a:rPr>
                        <a:t>Facebook</a:t>
                      </a:r>
                    </a:p>
                    <a:p>
                      <a:pPr>
                        <a:buNone/>
                      </a:pPr>
                      <a:r>
                        <a:rPr lang="en-IN" sz="14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Facebook Insights</a:t>
                      </a:r>
                    </a:p>
                  </a:txBody>
                  <a:tcPr marL="70183" marR="70183" marT="35091" marB="3509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Aptos Narrow" panose="020B0004020202020204" pitchFamily="34" charset="0"/>
                        </a:rPr>
                        <a:t>Posts product info and events.</a:t>
                      </a:r>
                    </a:p>
                  </a:txBody>
                  <a:tcPr marL="70183" marR="70183" marT="35091" marB="3509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Aptos Narrow" panose="020B0004020202020204" pitchFamily="34" charset="0"/>
                        </a:rPr>
                        <a:t>Less active and fewer likes.</a:t>
                      </a:r>
                    </a:p>
                  </a:txBody>
                  <a:tcPr marL="70183" marR="70183" marT="35091" marB="3509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Aptos Narrow" panose="020B0004020202020204" pitchFamily="34" charset="0"/>
                        </a:rPr>
                        <a:t>Share more engaging stories and videos.</a:t>
                      </a:r>
                    </a:p>
                  </a:txBody>
                  <a:tcPr marL="70183" marR="70183" marT="35091" marB="3509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5432142"/>
                  </a:ext>
                </a:extLst>
              </a:tr>
              <a:tr h="9708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>
                          <a:solidFill>
                            <a:srgbClr val="FF0000"/>
                          </a:solidFill>
                        </a:rPr>
                        <a:t>YouTube</a:t>
                      </a:r>
                    </a:p>
                    <a:p>
                      <a:pPr>
                        <a:buNone/>
                      </a:pPr>
                      <a:r>
                        <a:rPr lang="en-IN" sz="14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YouTube Studio</a:t>
                      </a:r>
                    </a:p>
                  </a:txBody>
                  <a:tcPr marL="70183" marR="70183" marT="35091" marB="3509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Aptos Narrow" panose="020B0004020202020204" pitchFamily="34" charset="0"/>
                        </a:rPr>
                        <a:t>Has tutorials and demos.</a:t>
                      </a:r>
                    </a:p>
                  </a:txBody>
                  <a:tcPr marL="70183" marR="70183" marT="35091" marB="3509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Aptos Narrow" panose="020B0004020202020204" pitchFamily="34" charset="0"/>
                        </a:rPr>
                        <a:t>Inconsistent posting.</a:t>
                      </a:r>
                    </a:p>
                  </a:txBody>
                  <a:tcPr marL="70183" marR="70183" marT="35091" marB="3509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Aptos Narrow" panose="020B0004020202020204" pitchFamily="34" charset="0"/>
                        </a:rPr>
                        <a:t>Upload videos regularly with better titles and tags.</a:t>
                      </a:r>
                    </a:p>
                  </a:txBody>
                  <a:tcPr marL="70183" marR="70183" marT="35091" marB="3509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6846386"/>
                  </a:ext>
                </a:extLst>
              </a:tr>
              <a:tr h="9708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>
                          <a:solidFill>
                            <a:srgbClr val="FF0000"/>
                          </a:solidFill>
                        </a:rPr>
                        <a:t>Instagram</a:t>
                      </a:r>
                    </a:p>
                    <a:p>
                      <a:pPr>
                        <a:buNone/>
                      </a:pPr>
                      <a:r>
                        <a:rPr lang="en-IN" sz="14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Instagram Insights</a:t>
                      </a:r>
                    </a:p>
                  </a:txBody>
                  <a:tcPr marL="70183" marR="70183" marT="35091" marB="3509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Aptos Narrow" panose="020B0004020202020204" pitchFamily="34" charset="0"/>
                        </a:rPr>
                        <a:t>Limited content and followers.</a:t>
                      </a:r>
                    </a:p>
                  </a:txBody>
                  <a:tcPr marL="70183" marR="70183" marT="35091" marB="3509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Aptos Narrow" panose="020B0004020202020204" pitchFamily="34" charset="0"/>
                        </a:rPr>
                        <a:t>Low visibility.</a:t>
                      </a:r>
                    </a:p>
                  </a:txBody>
                  <a:tcPr marL="70183" marR="70183" marT="35091" marB="3509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Aptos Narrow" panose="020B0004020202020204" pitchFamily="34" charset="0"/>
                        </a:rPr>
                        <a:t>Add creative posts, stories, and customer highlights.</a:t>
                      </a:r>
                    </a:p>
                  </a:txBody>
                  <a:tcPr marL="70183" marR="70183" marT="35091" marB="3509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7457521"/>
                  </a:ext>
                </a:extLst>
              </a:tr>
              <a:tr h="6873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>
                          <a:solidFill>
                            <a:srgbClr val="FF0000"/>
                          </a:solidFill>
                        </a:rPr>
                        <a:t>Blog</a:t>
                      </a:r>
                    </a:p>
                    <a:p>
                      <a:pPr>
                        <a:buNone/>
                      </a:pPr>
                      <a:r>
                        <a:rPr lang="en-IN" sz="14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WordPress Analytics</a:t>
                      </a:r>
                    </a:p>
                  </a:txBody>
                  <a:tcPr marL="70183" marR="70183" marT="35091" marB="3509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Aptos Narrow" panose="020B0004020202020204" pitchFamily="34" charset="0"/>
                        </a:rPr>
                        <a:t>Covers workflow and automation topics.</a:t>
                      </a:r>
                    </a:p>
                  </a:txBody>
                  <a:tcPr marL="70183" marR="70183" marT="35091" marB="3509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Aptos Narrow" panose="020B0004020202020204" pitchFamily="34" charset="0"/>
                        </a:rPr>
                        <a:t>Some posts are old.</a:t>
                      </a:r>
                    </a:p>
                  </a:txBody>
                  <a:tcPr marL="70183" marR="70183" marT="35091" marB="3509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Aptos Narrow" panose="020B0004020202020204" pitchFamily="34" charset="0"/>
                        </a:rPr>
                        <a:t>Post more often and update older blogs.</a:t>
                      </a:r>
                    </a:p>
                  </a:txBody>
                  <a:tcPr marL="70183" marR="70183" marT="35091" marB="3509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1532127"/>
                  </a:ext>
                </a:extLst>
              </a:tr>
              <a:tr h="9708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>
                          <a:solidFill>
                            <a:srgbClr val="FF0000"/>
                          </a:solidFill>
                        </a:rPr>
                        <a:t>Email</a:t>
                      </a:r>
                    </a:p>
                    <a:p>
                      <a:pPr>
                        <a:buNone/>
                      </a:pPr>
                      <a:r>
                        <a:rPr lang="en-IN" sz="14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HubSpot Email Tool</a:t>
                      </a:r>
                    </a:p>
                  </a:txBody>
                  <a:tcPr marL="70183" marR="70183" marT="35091" marB="3509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Aptos Narrow" panose="020B0004020202020204" pitchFamily="34" charset="0"/>
                        </a:rPr>
                        <a:t>Sends product updates.</a:t>
                      </a:r>
                    </a:p>
                  </a:txBody>
                  <a:tcPr marL="70183" marR="70183" marT="35091" marB="3509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Aptos Narrow" panose="020B0004020202020204" pitchFamily="34" charset="0"/>
                        </a:rPr>
                        <a:t>May be too product-focused.</a:t>
                      </a:r>
                    </a:p>
                  </a:txBody>
                  <a:tcPr marL="70183" marR="70183" marT="35091" marB="3509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Aptos Narrow" panose="020B0004020202020204" pitchFamily="34" charset="0"/>
                        </a:rPr>
                        <a:t>Personalize messages and include stronger CTAs.</a:t>
                      </a:r>
                    </a:p>
                  </a:txBody>
                  <a:tcPr marL="70183" marR="70183" marT="35091" marB="3509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4146122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7FD87646-4056-3898-0F1A-B58CA4C524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929" y="822960"/>
            <a:ext cx="506839" cy="36874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FAA4CA5-7C77-8639-A4FE-768A9169CE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8929" y="1417319"/>
            <a:ext cx="503751" cy="50375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E4743E1-CA7A-7446-7025-71129875DA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8929" y="2146685"/>
            <a:ext cx="548688" cy="5037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D010D3B-BD4D-D2D8-437F-9FB025B300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8929" y="2943886"/>
            <a:ext cx="548689" cy="37046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640DE53-69D9-465B-8039-99E68C7CDB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8928" y="3926320"/>
            <a:ext cx="548689" cy="46956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4C9420D-E1BC-4742-E708-275E8AEEE7F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08927" y="4793664"/>
            <a:ext cx="548689" cy="46956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A5F9CF2-EC70-955F-35CC-3B27239C794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50776" y="5661008"/>
            <a:ext cx="506840" cy="368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9120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2D5DE-7ED7-0C50-5275-023AF8EEA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652EC-FEA4-85CD-C83A-2DD461301E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04872" y="1344168"/>
            <a:ext cx="7004304" cy="1097280"/>
          </a:xfrm>
          <a:noFill/>
        </p:spPr>
        <p:txBody>
          <a:bodyPr>
            <a:noAutofit/>
          </a:bodyPr>
          <a:lstStyle/>
          <a:p>
            <a:r>
              <a:rPr lang="en-IN" dirty="0"/>
              <a:t>Digital Marketing Analysis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33C683-B5EC-44C0-9E93-8462109E3E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84831" y="2638044"/>
            <a:ext cx="7854697" cy="580644"/>
          </a:xfrm>
          <a:noFill/>
        </p:spPr>
        <p:txBody>
          <a:bodyPr>
            <a:noAutofit/>
          </a:bodyPr>
          <a:lstStyle/>
          <a:p>
            <a:r>
              <a:rPr lang="en-US" dirty="0"/>
              <a:t>SWOT Analysis</a:t>
            </a:r>
          </a:p>
        </p:txBody>
      </p:sp>
    </p:spTree>
    <p:extLst>
      <p:ext uri="{BB962C8B-B14F-4D97-AF65-F5344CB8AC3E}">
        <p14:creationId xmlns:p14="http://schemas.microsoft.com/office/powerpoint/2010/main" val="3745190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CD533-E7E4-B248-A94C-13B403D63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9742379-0167-AD85-C8CF-5F471E471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8423813"/>
              </p:ext>
            </p:extLst>
          </p:nvPr>
        </p:nvGraphicFramePr>
        <p:xfrm>
          <a:off x="966216" y="499142"/>
          <a:ext cx="10515600" cy="182880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845763184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934979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solidFill>
                            <a:srgbClr val="FF0000"/>
                          </a:solidFill>
                        </a:rPr>
                        <a:t>Strengths</a:t>
                      </a:r>
                      <a:endParaRPr lang="en-IN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solidFill>
                            <a:srgbClr val="FF0000"/>
                          </a:solidFill>
                        </a:rPr>
                        <a:t>Weaknesses</a:t>
                      </a:r>
                      <a:endParaRPr lang="en-IN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8707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Low-Code/No-Code Leadership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Limited Brand Awareness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22601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Global Enterprise Adoption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Feature Depth vs. Breadth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06283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Unified Digital Workplace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Inconsistent Content Strategy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94979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User-Centric Design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2207972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61C17F6-6CB3-4515-E923-01C64B9D28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539873"/>
              </p:ext>
            </p:extLst>
          </p:nvPr>
        </p:nvGraphicFramePr>
        <p:xfrm>
          <a:off x="966216" y="3169190"/>
          <a:ext cx="10515600" cy="182880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1261810675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14021730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solidFill>
                            <a:srgbClr val="FF0000"/>
                          </a:solidFill>
                        </a:rPr>
                        <a:t>Opportunities</a:t>
                      </a:r>
                      <a:endParaRPr lang="en-IN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>
                          <a:solidFill>
                            <a:srgbClr val="FF0000"/>
                          </a:solidFill>
                        </a:rPr>
                        <a:t>Threats</a:t>
                      </a:r>
                      <a:endParaRPr lang="en-IN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99728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Growing Demand for Automation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Intense Competition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76262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SME Market Penetration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Security &amp; Compliance Risks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76051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AI &amp; Analytics Integration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Market Saturation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57802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Strategic Partnerships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1590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26504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33000">
              <a:schemeClr val="bg2"/>
            </a:gs>
            <a:gs pos="59000">
              <a:schemeClr val="tx2">
                <a:lumMod val="90000"/>
                <a:alpha val="65163"/>
              </a:schemeClr>
            </a:gs>
          </a:gsLst>
          <a:lin ang="168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DEED10-CA44-88B1-C4D8-A88EA87ED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D0B03-22AA-ADE7-190B-E9C8D4BCB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664" y="466344"/>
            <a:ext cx="11216640" cy="749808"/>
          </a:xfrm>
          <a:noFill/>
        </p:spPr>
        <p:txBody>
          <a:bodyPr>
            <a:noAutofit/>
          </a:bodyPr>
          <a:lstStyle/>
          <a:p>
            <a:r>
              <a:rPr lang="en-US" dirty="0"/>
              <a:t> </a:t>
            </a:r>
            <a:r>
              <a:rPr lang="en-US" sz="2800" dirty="0"/>
              <a:t>Strategic Alignment: Traditional vs. Digital Marketing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EF834A3-AFDA-4D76-71DE-125152418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75912" y="6563001"/>
            <a:ext cx="2743200" cy="228600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13</a:t>
            </a:fld>
            <a:endParaRPr lang="en-US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56BBFED-1E94-BB40-3952-DB86405F69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9513633"/>
              </p:ext>
            </p:extLst>
          </p:nvPr>
        </p:nvGraphicFramePr>
        <p:xfrm>
          <a:off x="749808" y="1216152"/>
          <a:ext cx="10634472" cy="4808962"/>
        </p:xfrm>
        <a:graphic>
          <a:graphicData uri="http://schemas.openxmlformats.org/drawingml/2006/table">
            <a:tbl>
              <a:tblPr/>
              <a:tblGrid>
                <a:gridCol w="2658618">
                  <a:extLst>
                    <a:ext uri="{9D8B030D-6E8A-4147-A177-3AD203B41FA5}">
                      <a16:colId xmlns:a16="http://schemas.microsoft.com/office/drawing/2014/main" val="3729058456"/>
                    </a:ext>
                  </a:extLst>
                </a:gridCol>
                <a:gridCol w="2658618">
                  <a:extLst>
                    <a:ext uri="{9D8B030D-6E8A-4147-A177-3AD203B41FA5}">
                      <a16:colId xmlns:a16="http://schemas.microsoft.com/office/drawing/2014/main" val="2768319076"/>
                    </a:ext>
                  </a:extLst>
                </a:gridCol>
                <a:gridCol w="2658618">
                  <a:extLst>
                    <a:ext uri="{9D8B030D-6E8A-4147-A177-3AD203B41FA5}">
                      <a16:colId xmlns:a16="http://schemas.microsoft.com/office/drawing/2014/main" val="1734719020"/>
                    </a:ext>
                  </a:extLst>
                </a:gridCol>
                <a:gridCol w="2658618">
                  <a:extLst>
                    <a:ext uri="{9D8B030D-6E8A-4147-A177-3AD203B41FA5}">
                      <a16:colId xmlns:a16="http://schemas.microsoft.com/office/drawing/2014/main" val="509451804"/>
                    </a:ext>
                  </a:extLst>
                </a:gridCol>
              </a:tblGrid>
              <a:tr h="42863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>
                          <a:solidFill>
                            <a:srgbClr val="0D1D51"/>
                          </a:solidFill>
                        </a:rPr>
                        <a:t>Area</a:t>
                      </a:r>
                      <a:endParaRPr lang="en-IN" sz="1400" dirty="0">
                        <a:solidFill>
                          <a:srgbClr val="0D1D51"/>
                        </a:solidFill>
                      </a:endParaRP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>
                          <a:solidFill>
                            <a:srgbClr val="0D1D51"/>
                          </a:solidFill>
                        </a:rPr>
                        <a:t>Traditional Marketing Goal</a:t>
                      </a:r>
                      <a:endParaRPr lang="en-IN" sz="1400" dirty="0">
                        <a:solidFill>
                          <a:srgbClr val="0D1D51"/>
                        </a:solidFill>
                      </a:endParaRP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>
                          <a:solidFill>
                            <a:srgbClr val="0D1D51"/>
                          </a:solidFill>
                        </a:rPr>
                        <a:t>Digital Marketing Goal</a:t>
                      </a:r>
                      <a:endParaRPr lang="en-IN" sz="1400" dirty="0">
                        <a:solidFill>
                          <a:srgbClr val="0D1D51"/>
                        </a:solidFill>
                      </a:endParaRP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>
                          <a:solidFill>
                            <a:srgbClr val="0D1D51"/>
                          </a:solidFill>
                        </a:rPr>
                        <a:t>Recommended Improvements</a:t>
                      </a:r>
                      <a:endParaRPr lang="en-IN" sz="1400" dirty="0">
                        <a:solidFill>
                          <a:srgbClr val="0D1D51"/>
                        </a:solidFill>
                      </a:endParaRP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3955088"/>
                  </a:ext>
                </a:extLst>
              </a:tr>
              <a:tr h="9470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dirty="0">
                          <a:solidFill>
                            <a:srgbClr val="C00000"/>
                          </a:solidFill>
                        </a:rPr>
                        <a:t>Brand Awareness</a:t>
                      </a:r>
                      <a:endParaRPr lang="en-IN" sz="1200" dirty="0">
                        <a:solidFill>
                          <a:srgbClr val="C00000"/>
                        </a:solidFill>
                      </a:endParaRP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/>
                        <a:t>Build trust via events, print, PR</a:t>
                      </a: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it-IT" sz="1200" dirty="0"/>
                        <a:t>Drive visibility via SEO, social media, and content</a:t>
                      </a:r>
                      <a:endParaRPr lang="en-US" sz="1200" dirty="0"/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/>
                        <a:t>Launch thought leadership webinars and repurpose them as blog/video content</a:t>
                      </a: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4463525"/>
                  </a:ext>
                </a:extLst>
              </a:tr>
              <a:tr h="9470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dirty="0">
                          <a:solidFill>
                            <a:srgbClr val="C00000"/>
                          </a:solidFill>
                        </a:rPr>
                        <a:t>Lead Generation</a:t>
                      </a:r>
                      <a:endParaRPr lang="en-IN" sz="1200" dirty="0">
                        <a:solidFill>
                          <a:srgbClr val="C00000"/>
                        </a:solidFill>
                      </a:endParaRP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/>
                        <a:t>Capture interest via trade shows, brochures</a:t>
                      </a: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/>
                        <a:t>Convert via landing pages, email funnels</a:t>
                      </a: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/>
                        <a:t>Create QR codes on offline materials linking to demo pages or gated content</a:t>
                      </a: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6202587"/>
                  </a:ext>
                </a:extLst>
              </a:tr>
              <a:tr h="7695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dirty="0">
                          <a:solidFill>
                            <a:srgbClr val="C00000"/>
                          </a:solidFill>
                        </a:rPr>
                        <a:t>Customer Education</a:t>
                      </a:r>
                      <a:endParaRPr lang="en-IN" sz="1200" dirty="0">
                        <a:solidFill>
                          <a:srgbClr val="C00000"/>
                        </a:solidFill>
                      </a:endParaRP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it-IT" sz="1200" dirty="0"/>
                        <a:t>Use seminars, product demos</a:t>
                      </a: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/>
                        <a:t>Use tutorials, blogs, YouTube</a:t>
                      </a: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/>
                        <a:t>Align offline demos with online walkthroughs and retarget attendees with email campaigns</a:t>
                      </a: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355663"/>
                  </a:ext>
                </a:extLst>
              </a:tr>
              <a:tr h="9470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dirty="0">
                          <a:solidFill>
                            <a:srgbClr val="C00000"/>
                          </a:solidFill>
                        </a:rPr>
                        <a:t>Engagement</a:t>
                      </a:r>
                      <a:endParaRPr lang="en-IN" sz="1200" dirty="0">
                        <a:solidFill>
                          <a:srgbClr val="C00000"/>
                        </a:solidFill>
                      </a:endParaRP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/>
                        <a:t>Face-to-face interaction</a:t>
                      </a: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/>
                        <a:t>Social media, chatbots, interactive content</a:t>
                      </a: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/>
                        <a:t>Add interactive product previews and polls on social platforms</a:t>
                      </a: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1438116"/>
                  </a:ext>
                </a:extLst>
              </a:tr>
              <a:tr h="7695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dirty="0">
                          <a:solidFill>
                            <a:srgbClr val="C00000"/>
                          </a:solidFill>
                        </a:rPr>
                        <a:t>Retention &amp; Loyalty</a:t>
                      </a:r>
                      <a:endParaRPr lang="en-IN" sz="1200" dirty="0">
                        <a:solidFill>
                          <a:srgbClr val="C00000"/>
                        </a:solidFill>
                      </a:endParaRP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200" dirty="0"/>
                        <a:t>Relationship management, newsletters</a:t>
                      </a: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/>
                        <a:t>Personalized email, loyalty programs</a:t>
                      </a: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/>
                        <a:t>Sync CRM with email tools to personalize follow-ups post-event or post-demo</a:t>
                      </a: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41910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14646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33000">
              <a:schemeClr val="bg2"/>
            </a:gs>
            <a:gs pos="59000">
              <a:schemeClr val="tx2">
                <a:lumMod val="90000"/>
                <a:alpha val="65163"/>
              </a:schemeClr>
            </a:gs>
          </a:gsLst>
          <a:lin ang="16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AC361-0D7A-DC05-86B5-6DD77D322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664" y="466344"/>
            <a:ext cx="9016248" cy="749808"/>
          </a:xfrm>
          <a:noFill/>
        </p:spPr>
        <p:txBody>
          <a:bodyPr>
            <a:noAutofit/>
          </a:bodyPr>
          <a:lstStyle/>
          <a:p>
            <a:r>
              <a:rPr lang="en-US" dirty="0"/>
              <a:t> Kissflow Optimization Strategy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9F61F934-8535-E086-C153-D48E49B98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75912" y="6563001"/>
            <a:ext cx="2743200" cy="228600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14</a:t>
            </a:fld>
            <a:endParaRPr lang="en-US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FB210D1-81C7-F153-5F44-0C86B3E203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566888"/>
              </p:ext>
            </p:extLst>
          </p:nvPr>
        </p:nvGraphicFramePr>
        <p:xfrm>
          <a:off x="749808" y="1216152"/>
          <a:ext cx="10634472" cy="4860768"/>
        </p:xfrm>
        <a:graphic>
          <a:graphicData uri="http://schemas.openxmlformats.org/drawingml/2006/table">
            <a:tbl>
              <a:tblPr/>
              <a:tblGrid>
                <a:gridCol w="2658618">
                  <a:extLst>
                    <a:ext uri="{9D8B030D-6E8A-4147-A177-3AD203B41FA5}">
                      <a16:colId xmlns:a16="http://schemas.microsoft.com/office/drawing/2014/main" val="3729058456"/>
                    </a:ext>
                  </a:extLst>
                </a:gridCol>
                <a:gridCol w="2658618">
                  <a:extLst>
                    <a:ext uri="{9D8B030D-6E8A-4147-A177-3AD203B41FA5}">
                      <a16:colId xmlns:a16="http://schemas.microsoft.com/office/drawing/2014/main" val="2768319076"/>
                    </a:ext>
                  </a:extLst>
                </a:gridCol>
                <a:gridCol w="2658618">
                  <a:extLst>
                    <a:ext uri="{9D8B030D-6E8A-4147-A177-3AD203B41FA5}">
                      <a16:colId xmlns:a16="http://schemas.microsoft.com/office/drawing/2014/main" val="1734719020"/>
                    </a:ext>
                  </a:extLst>
                </a:gridCol>
                <a:gridCol w="2658618">
                  <a:extLst>
                    <a:ext uri="{9D8B030D-6E8A-4147-A177-3AD203B41FA5}">
                      <a16:colId xmlns:a16="http://schemas.microsoft.com/office/drawing/2014/main" val="509451804"/>
                    </a:ext>
                  </a:extLst>
                </a:gridCol>
              </a:tblGrid>
              <a:tr h="42863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>
                          <a:solidFill>
                            <a:srgbClr val="0D1D51"/>
                          </a:solidFill>
                        </a:rPr>
                        <a:t>Area</a:t>
                      </a:r>
                      <a:endParaRPr lang="en-IN" sz="1400" dirty="0">
                        <a:solidFill>
                          <a:srgbClr val="0D1D51"/>
                        </a:solidFill>
                      </a:endParaRP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>
                          <a:solidFill>
                            <a:srgbClr val="0D1D51"/>
                          </a:solidFill>
                        </a:rPr>
                        <a:t>Current Status</a:t>
                      </a:r>
                      <a:endParaRPr lang="en-IN" sz="1400" dirty="0">
                        <a:solidFill>
                          <a:srgbClr val="0D1D51"/>
                        </a:solidFill>
                      </a:endParaRP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>
                          <a:solidFill>
                            <a:srgbClr val="0D1D51"/>
                          </a:solidFill>
                        </a:rPr>
                        <a:t>Expected Outcome After Implementation</a:t>
                      </a:r>
                      <a:endParaRPr lang="en-IN" sz="1400" dirty="0">
                        <a:solidFill>
                          <a:srgbClr val="0D1D51"/>
                        </a:solidFill>
                      </a:endParaRP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>
                          <a:solidFill>
                            <a:srgbClr val="0D1D51"/>
                          </a:solidFill>
                        </a:rPr>
                        <a:t>Impact Description</a:t>
                      </a:r>
                      <a:endParaRPr lang="en-IN" sz="1400" dirty="0">
                        <a:solidFill>
                          <a:srgbClr val="0D1D51"/>
                        </a:solidFill>
                      </a:endParaRP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3955088"/>
                  </a:ext>
                </a:extLst>
              </a:tr>
              <a:tr h="9470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dirty="0">
                          <a:solidFill>
                            <a:srgbClr val="C00000"/>
                          </a:solidFill>
                        </a:rPr>
                        <a:t>Conversion Rate Improvement</a:t>
                      </a:r>
                      <a:endParaRPr lang="en-IN" sz="1200" dirty="0">
                        <a:solidFill>
                          <a:srgbClr val="C00000"/>
                        </a:solidFill>
                      </a:endParaRP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/>
                        <a:t>Current conversion rate estimated around </a:t>
                      </a:r>
                      <a:r>
                        <a:rPr lang="en-US" sz="1200" b="1" dirty="0"/>
                        <a:t>2–3%</a:t>
                      </a:r>
                      <a:r>
                        <a:rPr lang="en-US" sz="1200" dirty="0"/>
                        <a:t> based on general B2B SaaS averages.</a:t>
                      </a: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/>
                        <a:t>Expected to increase to </a:t>
                      </a:r>
                      <a:r>
                        <a:rPr lang="en-US" sz="1200" b="1"/>
                        <a:t>4–5%</a:t>
                      </a:r>
                      <a:r>
                        <a:rPr lang="en-US" sz="1200"/>
                        <a:t> through optimized landing pages, stronger CTAs, and improved page speed.</a:t>
                      </a: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/>
                        <a:t>Clearer messaging, faster load times, and better UX will lead to higher sign-ups and demo requests.</a:t>
                      </a: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4463525"/>
                  </a:ext>
                </a:extLst>
              </a:tr>
              <a:tr h="9470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dirty="0">
                          <a:solidFill>
                            <a:srgbClr val="C00000"/>
                          </a:solidFill>
                        </a:rPr>
                        <a:t>Engagement &amp; Brand Awareness</a:t>
                      </a:r>
                      <a:endParaRPr lang="en-IN" sz="1200" dirty="0">
                        <a:solidFill>
                          <a:srgbClr val="C00000"/>
                        </a:solidFill>
                      </a:endParaRP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/>
                        <a:t>Moderate engagement across LinkedIn and YouTube; lower on other platforms.</a:t>
                      </a: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/>
                        <a:t>Increase engagement by </a:t>
                      </a:r>
                      <a:r>
                        <a:rPr lang="en-US" sz="1200" b="1" dirty="0"/>
                        <a:t>30–40%</a:t>
                      </a:r>
                      <a:r>
                        <a:rPr lang="en-US" sz="1200" dirty="0"/>
                        <a:t> through consistent posting, interactive content, and improved visuals.</a:t>
                      </a: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/>
                        <a:t>More visibility across channels will enhance brand recognition and trust among potential clients.</a:t>
                      </a: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6202587"/>
                  </a:ext>
                </a:extLst>
              </a:tr>
              <a:tr h="7695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>
                          <a:solidFill>
                            <a:srgbClr val="C00000"/>
                          </a:solidFill>
                        </a:rPr>
                        <a:t>SEO &amp; Website Traffic</a:t>
                      </a:r>
                      <a:endParaRPr lang="en-IN" sz="1200">
                        <a:solidFill>
                          <a:srgbClr val="C00000"/>
                        </a:solidFill>
                      </a:endParaRP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it-IT" sz="1200" dirty="0"/>
                        <a:t>SEO score moderate (avg. 70–75/100).</a:t>
                      </a: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/>
                        <a:t>Improvement to </a:t>
                      </a:r>
                      <a:r>
                        <a:rPr lang="en-US" sz="1200" b="1" dirty="0"/>
                        <a:t>85+</a:t>
                      </a:r>
                      <a:r>
                        <a:rPr lang="en-US" sz="1200" dirty="0"/>
                        <a:t> with on-page SEO, keyword optimization, and content refresh.</a:t>
                      </a: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/>
                        <a:t>Higher organic traffic and better ranking on target keywords.</a:t>
                      </a: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355663"/>
                  </a:ext>
                </a:extLst>
              </a:tr>
              <a:tr h="9470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dirty="0">
                          <a:solidFill>
                            <a:srgbClr val="C00000"/>
                          </a:solidFill>
                        </a:rPr>
                        <a:t>Lead Generation</a:t>
                      </a:r>
                      <a:endParaRPr lang="en-IN" sz="1200" dirty="0">
                        <a:solidFill>
                          <a:srgbClr val="C00000"/>
                        </a:solidFill>
                      </a:endParaRP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/>
                        <a:t>Lead generation primarily through demos and sign-ups.</a:t>
                      </a: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b="1" dirty="0"/>
                        <a:t>Increase leads by 25–30%</a:t>
                      </a:r>
                      <a:r>
                        <a:rPr lang="en-US" sz="1200" dirty="0"/>
                        <a:t> with optimized landing pages and personalized email campaigns.</a:t>
                      </a: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/>
                        <a:t>Enhanced targeting and user experience will drive better-quality leads.</a:t>
                      </a: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1438116"/>
                  </a:ext>
                </a:extLst>
              </a:tr>
              <a:tr h="7695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dirty="0">
                          <a:solidFill>
                            <a:srgbClr val="C00000"/>
                          </a:solidFill>
                        </a:rPr>
                        <a:t>Customer Retention &amp; Loyalty</a:t>
                      </a:r>
                      <a:endParaRPr lang="en-IN" sz="1200" dirty="0">
                        <a:solidFill>
                          <a:srgbClr val="C00000"/>
                        </a:solidFill>
                      </a:endParaRP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1200"/>
                        <a:t>Limited post-conversion engagement activities.</a:t>
                      </a: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/>
                        <a:t>Introduce newsletters, webinars, and tutorials to boost retention by </a:t>
                      </a:r>
                      <a:r>
                        <a:rPr lang="en-US" sz="1200" b="1"/>
                        <a:t>15–20%</a:t>
                      </a:r>
                      <a:r>
                        <a:rPr lang="en-US" sz="1200"/>
                        <a:t>.</a:t>
                      </a: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200" dirty="0"/>
                        <a:t>Stronger customer relationships and recurring engagement.</a:t>
                      </a:r>
                    </a:p>
                  </a:txBody>
                  <a:tcPr marL="53720" marR="53720" marT="26860" marB="2686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41910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08021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C27C8-165C-5513-DB4B-9D840097C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0824" y="1161288"/>
            <a:ext cx="4773168" cy="832104"/>
          </a:xfrm>
          <a:noFill/>
        </p:spPr>
        <p:txBody>
          <a:bodyPr>
            <a:noAutofit/>
          </a:bodyPr>
          <a:lstStyle/>
          <a:p>
            <a:r>
              <a:rPr lang="en-US" dirty="0"/>
              <a:t>LANDING PAGE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E640F-7F5A-BDB7-205D-765FA80B67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76272" y="2609416"/>
            <a:ext cx="5971032" cy="502920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hlinkClick r:id="rId2"/>
              </a:rPr>
              <a:t>https://javidhf.wixsite.com/digitoil</a:t>
            </a:r>
            <a:r>
              <a:rPr lang="en-US" dirty="0"/>
              <a:t> 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93736AF-0027-E734-82A8-010D7129D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75912" y="6563001"/>
            <a:ext cx="2743200" cy="228600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6091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33000">
              <a:schemeClr val="bg2"/>
            </a:gs>
            <a:gs pos="59000">
              <a:schemeClr val="tx2">
                <a:lumMod val="90000"/>
                <a:alpha val="65163"/>
              </a:schemeClr>
            </a:gs>
          </a:gsLst>
          <a:lin ang="13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30A76-B788-B363-104E-266B7C7F7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25196"/>
            <a:ext cx="3822192" cy="832104"/>
          </a:xfrm>
          <a:noFill/>
        </p:spPr>
        <p:txBody>
          <a:bodyPr anchor="b">
            <a:noAutofit/>
          </a:bodyPr>
          <a:lstStyle/>
          <a:p>
            <a:r>
              <a:rPr lang="en-US" dirty="0"/>
              <a:t>CONCLUSION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3F21905C-1BD6-BF3F-5B8B-B9AD53017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75912" y="6563001"/>
            <a:ext cx="2743200" cy="228600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50B9D9-206F-8B1A-202C-80D08EEA3973}"/>
              </a:ext>
            </a:extLst>
          </p:cNvPr>
          <p:cNvSpPr txBox="1"/>
          <p:nvPr/>
        </p:nvSpPr>
        <p:spPr>
          <a:xfrm>
            <a:off x="509778" y="1252728"/>
            <a:ext cx="612190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rgbClr val="C00000"/>
                </a:solidFill>
              </a:rPr>
              <a:t>🔧 Key Focus Areas: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Website Optimization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SEO Enhancements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Social Media Strategy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7D3370-E195-D5D0-3535-98AA9FDB8CFA}"/>
              </a:ext>
            </a:extLst>
          </p:cNvPr>
          <p:cNvSpPr txBox="1"/>
          <p:nvPr/>
        </p:nvSpPr>
        <p:spPr>
          <a:xfrm>
            <a:off x="1873260" y="2541925"/>
            <a:ext cx="612190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rgbClr val="C00000"/>
                </a:solidFill>
              </a:rPr>
              <a:t>📈 Expected Outcomes: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Higher Conversion Rates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Increased Audience Engagement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Improved Search Visibility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Stronger Brand Awareness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0E2BD4-1632-2DE3-D7C2-9916F16A4DE3}"/>
              </a:ext>
            </a:extLst>
          </p:cNvPr>
          <p:cNvSpPr txBox="1"/>
          <p:nvPr/>
        </p:nvSpPr>
        <p:spPr>
          <a:xfrm>
            <a:off x="3499866" y="4209026"/>
            <a:ext cx="612190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🧭 Strategic Insight: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Demonstrates the power of combining data-driven analysis with creative marketing execution.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By aligning technical audits with audience-centric content, Kissflow is positioned to expand its digital footprint and achieve sustained business growth.</a:t>
            </a:r>
            <a:endParaRPr lang="en-IN" dirty="0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37779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0034E89-1952-5288-08A0-70A4A73BE3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4320" y="832104"/>
            <a:ext cx="8522208" cy="777240"/>
          </a:xfrm>
          <a:noFill/>
        </p:spPr>
        <p:txBody>
          <a:bodyPr anchor="ctr">
            <a:noAutofit/>
          </a:bodyPr>
          <a:lstStyle/>
          <a:p>
            <a:pPr algn="l"/>
            <a:r>
              <a:rPr lang="en-US" dirty="0"/>
              <a:t>References: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C43885-9E0B-D004-010E-262FD8CB5AA4}"/>
              </a:ext>
            </a:extLst>
          </p:cNvPr>
          <p:cNvSpPr txBox="1"/>
          <p:nvPr/>
        </p:nvSpPr>
        <p:spPr>
          <a:xfrm>
            <a:off x="1324356" y="2048131"/>
            <a:ext cx="1070914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dirty="0"/>
              <a:t>1. </a:t>
            </a:r>
            <a:r>
              <a:rPr lang="en-IN" dirty="0" err="1"/>
              <a:t>Kissflow</a:t>
            </a:r>
            <a:r>
              <a:rPr lang="en-IN" dirty="0"/>
              <a:t> Official Website – </a:t>
            </a:r>
            <a:r>
              <a:rPr lang="en-IN" dirty="0">
                <a:hlinkClick r:id="rId2"/>
              </a:rPr>
              <a:t>https://kissflow.com/</a:t>
            </a:r>
            <a:endParaRPr lang="en-IN" dirty="0"/>
          </a:p>
          <a:p>
            <a:r>
              <a:rPr lang="en-IN" dirty="0"/>
              <a:t>2. HubSpot Blog – </a:t>
            </a:r>
            <a:r>
              <a:rPr lang="en-IN" i="1" dirty="0"/>
              <a:t>Digital Marketing &amp; SEO Best Practices</a:t>
            </a:r>
            <a:r>
              <a:rPr lang="en-IN" dirty="0"/>
              <a:t> – </a:t>
            </a:r>
            <a:r>
              <a:rPr lang="en-IN" dirty="0">
                <a:hlinkClick r:id="rId3"/>
              </a:rPr>
              <a:t>https://blog.hubspot.com/</a:t>
            </a:r>
            <a:endParaRPr lang="en-IN" dirty="0"/>
          </a:p>
          <a:p>
            <a:r>
              <a:rPr lang="en-IN" dirty="0"/>
              <a:t>3. Neil Patel Blog – </a:t>
            </a:r>
            <a:r>
              <a:rPr lang="en-IN" i="1" dirty="0"/>
              <a:t>SEO &amp; Website Optimization Tips</a:t>
            </a:r>
            <a:r>
              <a:rPr lang="en-IN" dirty="0"/>
              <a:t> – https://neilpatel.com/blog/</a:t>
            </a:r>
          </a:p>
          <a:p>
            <a:r>
              <a:rPr lang="en-IN" dirty="0"/>
              <a:t>4. Sprout Social Insights – </a:t>
            </a:r>
            <a:r>
              <a:rPr lang="en-IN" i="1" dirty="0"/>
              <a:t>Social Media Marketing Guides</a:t>
            </a:r>
            <a:r>
              <a:rPr lang="en-IN" dirty="0"/>
              <a:t> – https://sproutsocial.com/insights/</a:t>
            </a:r>
          </a:p>
          <a:p>
            <a:r>
              <a:rPr lang="en-IN" dirty="0"/>
              <a:t>5. Google Analytics Documentation – https://support.google.com/analytics/</a:t>
            </a:r>
          </a:p>
        </p:txBody>
      </p:sp>
    </p:spTree>
    <p:extLst>
      <p:ext uri="{BB962C8B-B14F-4D97-AF65-F5344CB8AC3E}">
        <p14:creationId xmlns:p14="http://schemas.microsoft.com/office/powerpoint/2010/main" val="30580855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3BB4E-4063-34A4-ACB1-44E817064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4C5CBE3-7017-D9A3-3E59-045A438973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4320" y="210312"/>
            <a:ext cx="8522208" cy="777240"/>
          </a:xfrm>
          <a:noFill/>
        </p:spPr>
        <p:txBody>
          <a:bodyPr anchor="ctr">
            <a:noAutofit/>
          </a:bodyPr>
          <a:lstStyle/>
          <a:p>
            <a:pPr algn="l"/>
            <a:r>
              <a:rPr lang="en-US" sz="4400" dirty="0"/>
              <a:t>TOOLS: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8507DC9-A73D-53A0-9C52-EA24496478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5298514"/>
              </p:ext>
            </p:extLst>
          </p:nvPr>
        </p:nvGraphicFramePr>
        <p:xfrm>
          <a:off x="3886200" y="1124712"/>
          <a:ext cx="7882128" cy="4866946"/>
        </p:xfrm>
        <a:graphic>
          <a:graphicData uri="http://schemas.openxmlformats.org/drawingml/2006/table">
            <a:tbl>
              <a:tblPr/>
              <a:tblGrid>
                <a:gridCol w="2627376">
                  <a:extLst>
                    <a:ext uri="{9D8B030D-6E8A-4147-A177-3AD203B41FA5}">
                      <a16:colId xmlns:a16="http://schemas.microsoft.com/office/drawing/2014/main" val="3121171153"/>
                    </a:ext>
                  </a:extLst>
                </a:gridCol>
                <a:gridCol w="2627376">
                  <a:extLst>
                    <a:ext uri="{9D8B030D-6E8A-4147-A177-3AD203B41FA5}">
                      <a16:colId xmlns:a16="http://schemas.microsoft.com/office/drawing/2014/main" val="1334171779"/>
                    </a:ext>
                  </a:extLst>
                </a:gridCol>
                <a:gridCol w="2627376">
                  <a:extLst>
                    <a:ext uri="{9D8B030D-6E8A-4147-A177-3AD203B41FA5}">
                      <a16:colId xmlns:a16="http://schemas.microsoft.com/office/drawing/2014/main" val="1656130266"/>
                    </a:ext>
                  </a:extLst>
                </a:gridCol>
              </a:tblGrid>
              <a:tr h="23183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b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Category</a:t>
                      </a:r>
                      <a:endParaRPr lang="en-IN" sz="20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</a:endParaRPr>
                    </a:p>
                  </a:txBody>
                  <a:tcPr marL="49447" marR="49447" marT="24724" marB="247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2000" b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Tool / Platform</a:t>
                      </a:r>
                      <a:endParaRPr lang="en-IN" sz="20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</a:endParaRPr>
                    </a:p>
                  </a:txBody>
                  <a:tcPr marL="49447" marR="49447" marT="24724" marB="247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IN" sz="14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</a:endParaRPr>
                    </a:p>
                  </a:txBody>
                  <a:tcPr marL="49447" marR="49447" marT="24724" marB="247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0920912"/>
                  </a:ext>
                </a:extLst>
              </a:tr>
              <a:tr h="3975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dirty="0">
                          <a:solidFill>
                            <a:srgbClr val="FF0000"/>
                          </a:solidFill>
                        </a:rPr>
                        <a:t>Website Audit</a:t>
                      </a:r>
                      <a:endParaRPr lang="en-IN" sz="1600" dirty="0">
                        <a:solidFill>
                          <a:srgbClr val="FF0000"/>
                        </a:solidFill>
                      </a:endParaRPr>
                    </a:p>
                  </a:txBody>
                  <a:tcPr marL="49447" marR="49447" marT="24724" marB="247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 err="1">
                          <a:solidFill>
                            <a:srgbClr val="467886"/>
                          </a:solidFill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PageSpeed</a:t>
                      </a:r>
                      <a:r>
                        <a:rPr lang="en-IN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Insights</a:t>
                      </a:r>
                      <a:endParaRPr lang="en-IN" sz="16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</a:endParaRPr>
                    </a:p>
                  </a:txBody>
                  <a:tcPr marL="49447" marR="49447" marT="24724" marB="247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000" dirty="0"/>
                    </a:p>
                  </a:txBody>
                  <a:tcPr marL="49447" marR="49447" marT="24724" marB="247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9528870"/>
                  </a:ext>
                </a:extLst>
              </a:tr>
              <a:tr h="39755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600" dirty="0">
                        <a:solidFill>
                          <a:srgbClr val="FF0000"/>
                        </a:solidFill>
                      </a:endParaRPr>
                    </a:p>
                  </a:txBody>
                  <a:tcPr marL="49447" marR="49447" marT="24724" marB="247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SEO Meta in 1 Click (Chrome Extension)</a:t>
                      </a:r>
                      <a:endParaRPr lang="en-US" sz="16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</a:endParaRPr>
                    </a:p>
                  </a:txBody>
                  <a:tcPr marL="49447" marR="49447" marT="24724" marB="247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000" dirty="0"/>
                    </a:p>
                  </a:txBody>
                  <a:tcPr marL="49447" marR="49447" marT="24724" marB="247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4223362"/>
                  </a:ext>
                </a:extLst>
              </a:tr>
              <a:tr h="39755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600" dirty="0">
                        <a:solidFill>
                          <a:srgbClr val="FF0000"/>
                        </a:solidFill>
                      </a:endParaRPr>
                    </a:p>
                  </a:txBody>
                  <a:tcPr marL="49447" marR="49447" marT="24724" marB="247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Responsive Design Checker</a:t>
                      </a:r>
                      <a:endParaRPr lang="en-IN" sz="16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</a:endParaRPr>
                    </a:p>
                  </a:txBody>
                  <a:tcPr marL="49447" marR="49447" marT="24724" marB="247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000" dirty="0"/>
                    </a:p>
                  </a:txBody>
                  <a:tcPr marL="49447" marR="49447" marT="24724" marB="247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2640380"/>
                  </a:ext>
                </a:extLst>
              </a:tr>
              <a:tr h="3975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dirty="0">
                          <a:solidFill>
                            <a:srgbClr val="FF0000"/>
                          </a:solidFill>
                        </a:rPr>
                        <a:t>SEO Analysis</a:t>
                      </a:r>
                      <a:endParaRPr lang="en-IN" sz="1600" dirty="0">
                        <a:solidFill>
                          <a:srgbClr val="FF0000"/>
                        </a:solidFill>
                      </a:endParaRPr>
                    </a:p>
                  </a:txBody>
                  <a:tcPr marL="49447" marR="49447" marT="24724" marB="247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Rank Math SEO Analyzer</a:t>
                      </a:r>
                      <a:endParaRPr lang="en-IN" sz="16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</a:endParaRPr>
                    </a:p>
                  </a:txBody>
                  <a:tcPr marL="49447" marR="49447" marT="24724" marB="247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000" dirty="0"/>
                    </a:p>
                  </a:txBody>
                  <a:tcPr marL="49447" marR="49447" marT="24724" marB="247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9202136"/>
                  </a:ext>
                </a:extLst>
              </a:tr>
              <a:tr h="39755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600" dirty="0">
                        <a:solidFill>
                          <a:srgbClr val="FF0000"/>
                        </a:solidFill>
                      </a:endParaRPr>
                    </a:p>
                  </a:txBody>
                  <a:tcPr marL="49447" marR="49447" marT="24724" marB="247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AIOSEO Analyzer</a:t>
                      </a:r>
                      <a:endParaRPr lang="en-IN" sz="16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</a:endParaRPr>
                    </a:p>
                  </a:txBody>
                  <a:tcPr marL="49447" marR="49447" marT="24724" marB="247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000" dirty="0"/>
                    </a:p>
                  </a:txBody>
                  <a:tcPr marL="49447" marR="49447" marT="24724" marB="247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043336"/>
                  </a:ext>
                </a:extLst>
              </a:tr>
              <a:tr h="3975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dirty="0">
                          <a:solidFill>
                            <a:srgbClr val="FF0000"/>
                          </a:solidFill>
                        </a:rPr>
                        <a:t>Social Media Audit</a:t>
                      </a:r>
                      <a:endParaRPr lang="en-IN" sz="1600" dirty="0">
                        <a:solidFill>
                          <a:srgbClr val="FF0000"/>
                        </a:solidFill>
                      </a:endParaRPr>
                    </a:p>
                  </a:txBody>
                  <a:tcPr marL="49447" marR="49447" marT="24724" marB="247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hlinkClick r:id="rId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LinkedIn Analytics</a:t>
                      </a:r>
                      <a:endParaRPr lang="en-IN" sz="16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</a:endParaRPr>
                    </a:p>
                  </a:txBody>
                  <a:tcPr marL="49447" marR="49447" marT="24724" marB="247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000" dirty="0"/>
                    </a:p>
                  </a:txBody>
                  <a:tcPr marL="49447" marR="49447" marT="24724" marB="247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6407509"/>
                  </a:ext>
                </a:extLst>
              </a:tr>
              <a:tr h="39755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600" dirty="0">
                        <a:solidFill>
                          <a:srgbClr val="FF0000"/>
                        </a:solidFill>
                      </a:endParaRPr>
                    </a:p>
                  </a:txBody>
                  <a:tcPr marL="49447" marR="49447" marT="24724" marB="247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hlinkClick r:id="rId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Facebook Insights</a:t>
                      </a:r>
                      <a:endParaRPr lang="en-IN" sz="16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</a:endParaRPr>
                    </a:p>
                  </a:txBody>
                  <a:tcPr marL="49447" marR="49447" marT="24724" marB="247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000" dirty="0"/>
                    </a:p>
                  </a:txBody>
                  <a:tcPr marL="49447" marR="49447" marT="24724" marB="247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9386016"/>
                  </a:ext>
                </a:extLst>
              </a:tr>
              <a:tr h="39755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600" dirty="0">
                        <a:solidFill>
                          <a:srgbClr val="FF0000"/>
                        </a:solidFill>
                      </a:endParaRPr>
                    </a:p>
                  </a:txBody>
                  <a:tcPr marL="49447" marR="49447" marT="24724" marB="247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hlinkClick r:id="rId9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Twitter Analytics</a:t>
                      </a:r>
                      <a:endParaRPr lang="en-IN" sz="16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</a:endParaRPr>
                    </a:p>
                  </a:txBody>
                  <a:tcPr marL="49447" marR="49447" marT="24724" marB="247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000" dirty="0"/>
                    </a:p>
                  </a:txBody>
                  <a:tcPr marL="49447" marR="49447" marT="24724" marB="247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4714610"/>
                  </a:ext>
                </a:extLst>
              </a:tr>
              <a:tr h="397557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600" dirty="0">
                        <a:solidFill>
                          <a:srgbClr val="FF0000"/>
                        </a:solidFill>
                      </a:endParaRPr>
                    </a:p>
                  </a:txBody>
                  <a:tcPr marL="49447" marR="49447" marT="24724" marB="247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hlinkClick r:id="rId1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YouTube Studio</a:t>
                      </a:r>
                      <a:endParaRPr lang="en-IN" sz="16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</a:endParaRPr>
                    </a:p>
                  </a:txBody>
                  <a:tcPr marL="49447" marR="49447" marT="24724" marB="247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000" dirty="0"/>
                    </a:p>
                  </a:txBody>
                  <a:tcPr marL="49447" marR="49447" marT="24724" marB="247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8870634"/>
                  </a:ext>
                </a:extLst>
              </a:tr>
              <a:tr h="3975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dirty="0">
                          <a:solidFill>
                            <a:srgbClr val="FF0000"/>
                          </a:solidFill>
                        </a:rPr>
                        <a:t>Email &amp; Marketing Tools</a:t>
                      </a:r>
                      <a:endParaRPr lang="en-IN" sz="1600" dirty="0">
                        <a:solidFill>
                          <a:srgbClr val="FF0000"/>
                        </a:solidFill>
                      </a:endParaRPr>
                    </a:p>
                  </a:txBody>
                  <a:tcPr marL="49447" marR="49447" marT="24724" marB="247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hlinkClick r:id="rId11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HubSpot Marketing</a:t>
                      </a:r>
                      <a:endParaRPr lang="en-IN" sz="16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</a:endParaRPr>
                    </a:p>
                  </a:txBody>
                  <a:tcPr marL="49447" marR="49447" marT="24724" marB="247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000" dirty="0"/>
                    </a:p>
                  </a:txBody>
                  <a:tcPr marL="49447" marR="49447" marT="24724" marB="247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1955045"/>
                  </a:ext>
                </a:extLst>
              </a:tr>
              <a:tr h="3975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dirty="0">
                          <a:solidFill>
                            <a:srgbClr val="FF0000"/>
                          </a:solidFill>
                        </a:rPr>
                        <a:t>User </a:t>
                      </a:r>
                      <a:r>
                        <a:rPr lang="en-IN" sz="1600" b="1" dirty="0" err="1">
                          <a:solidFill>
                            <a:srgbClr val="FF0000"/>
                          </a:solidFill>
                        </a:rPr>
                        <a:t>Behavior</a:t>
                      </a:r>
                      <a:endParaRPr lang="en-IN" sz="1600" dirty="0">
                        <a:solidFill>
                          <a:srgbClr val="FF0000"/>
                        </a:solidFill>
                      </a:endParaRPr>
                    </a:p>
                  </a:txBody>
                  <a:tcPr marL="49447" marR="49447" marT="24724" marB="247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hlinkClick r:id="rId1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Hotjar</a:t>
                      </a:r>
                      <a:r>
                        <a:rPr lang="en-IN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 / </a:t>
                      </a:r>
                      <a:r>
                        <a:rPr lang="en-IN" sz="16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hlinkClick r:id="rId1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Microsoft Clarity</a:t>
                      </a:r>
                      <a:endParaRPr lang="en-IN" sz="16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</a:endParaRPr>
                    </a:p>
                  </a:txBody>
                  <a:tcPr marL="49447" marR="49447" marT="24724" marB="247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000" dirty="0"/>
                    </a:p>
                  </a:txBody>
                  <a:tcPr marL="49447" marR="49447" marT="24724" marB="247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36405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55290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2A0D7AA-8A21-B977-56ED-94406F2995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3856" y="56450"/>
            <a:ext cx="9912096" cy="2743200"/>
          </a:xfrm>
          <a:noFill/>
        </p:spPr>
        <p:txBody>
          <a:bodyPr anchor="b">
            <a:noAutofit/>
          </a:bodyPr>
          <a:lstStyle/>
          <a:p>
            <a:r>
              <a:rPr lang="en-US" dirty="0"/>
              <a:t>Thank you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D0A6B8-78EB-52CA-3D46-A46FC880D3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75304" y="3110546"/>
            <a:ext cx="4114800" cy="2743200"/>
          </a:xfrm>
          <a:noFill/>
        </p:spPr>
        <p:txBody>
          <a:bodyPr vert="horz" lIns="91440" tIns="45720" rIns="91440" bIns="45720" rtlCol="0" anchor="t" anchorCtr="0">
            <a:normAutofit/>
          </a:bodyPr>
          <a:lstStyle/>
          <a:p>
            <a:r>
              <a:rPr lang="en-US" noProof="0" dirty="0"/>
              <a:t>JAVIDH FARHAN</a:t>
            </a:r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751616652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Blue spheres">
      <a:dk1>
        <a:srgbClr val="000000"/>
      </a:dk1>
      <a:lt1>
        <a:srgbClr val="FFFFFF"/>
      </a:lt1>
      <a:dk2>
        <a:srgbClr val="E3E7ED"/>
      </a:dk2>
      <a:lt2>
        <a:srgbClr val="E8E8E8"/>
      </a:lt2>
      <a:accent1>
        <a:srgbClr val="7673F7"/>
      </a:accent1>
      <a:accent2>
        <a:srgbClr val="B8C2FD"/>
      </a:accent2>
      <a:accent3>
        <a:srgbClr val="DFE3FC"/>
      </a:accent3>
      <a:accent4>
        <a:srgbClr val="55B3FD"/>
      </a:accent4>
      <a:accent5>
        <a:srgbClr val="99F7F7"/>
      </a:accent5>
      <a:accent6>
        <a:srgbClr val="FEE43F"/>
      </a:accent6>
      <a:hlink>
        <a:srgbClr val="467886"/>
      </a:hlink>
      <a:folHlink>
        <a:srgbClr val="96607D"/>
      </a:folHlink>
    </a:clrScheme>
    <a:fontScheme name="Custom 23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34076243_win32_CP_V3" id="{81AB0711-29F9-49D0-8A73-16AF25FD4C08}" vid="{D5AD44AB-53B9-4654-A4F8-1821A28F277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9" ma:contentTypeDescription="Create a new document." ma:contentTypeScope="" ma:versionID="6a914531ae0f23be31da2eba1f3b42a9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ae00154c9e66547f022c4923f88826d6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67F3CB5-3475-4129-AB60-D0C937DE910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EA9B47F-3DD8-4645-81DC-B88780643C07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B0C07E3D-60A7-4F4E-8208-D9CCD01982CB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Blue spheres presentation</Template>
  <TotalTime>346</TotalTime>
  <Words>1676</Words>
  <Application>Microsoft Office PowerPoint</Application>
  <PresentationFormat>Widescreen</PresentationFormat>
  <Paragraphs>271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Aptos</vt:lpstr>
      <vt:lpstr>Aptos Narrow</vt:lpstr>
      <vt:lpstr>Arial</vt:lpstr>
      <vt:lpstr>Arial Black</vt:lpstr>
      <vt:lpstr>Calibri</vt:lpstr>
      <vt:lpstr>Courier New</vt:lpstr>
      <vt:lpstr>Wingdings</vt:lpstr>
      <vt:lpstr>Custom</vt:lpstr>
      <vt:lpstr>Comprehensive Audit and Analysis for Effective Digital Presence</vt:lpstr>
      <vt:lpstr>Agenda</vt:lpstr>
      <vt:lpstr>PROJECT OVERVIEW</vt:lpstr>
      <vt:lpstr>COMPANY OVERVIEW</vt:lpstr>
      <vt:lpstr>Website Audit </vt:lpstr>
      <vt:lpstr>PowerPoint Presentation</vt:lpstr>
      <vt:lpstr>Website Audit </vt:lpstr>
      <vt:lpstr>PowerPoint Presentation</vt:lpstr>
      <vt:lpstr>Digital Marketing Analysis</vt:lpstr>
      <vt:lpstr>PowerPoint Presentation</vt:lpstr>
      <vt:lpstr>Digital Marketing Analysis</vt:lpstr>
      <vt:lpstr>PowerPoint Presentation</vt:lpstr>
      <vt:lpstr> Strategic Alignment: Traditional vs. Digital Marketing</vt:lpstr>
      <vt:lpstr> Kissflow Optimization Strategy</vt:lpstr>
      <vt:lpstr>LANDING PAGE</vt:lpstr>
      <vt:lpstr>CONCLUSION</vt:lpstr>
      <vt:lpstr>References:</vt:lpstr>
      <vt:lpstr>TOOLS: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JAVIDH FARHAN</dc:creator>
  <cp:lastModifiedBy>JAVIDH FARHAN</cp:lastModifiedBy>
  <cp:revision>15</cp:revision>
  <dcterms:created xsi:type="dcterms:W3CDTF">2025-10-22T12:40:49Z</dcterms:created>
  <dcterms:modified xsi:type="dcterms:W3CDTF">2025-11-12T14:30:26Z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