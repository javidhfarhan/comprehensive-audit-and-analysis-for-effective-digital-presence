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96" r:id="rId5"/>
    <p:sldId id="297" r:id="rId6"/>
    <p:sldId id="286" r:id="rId7"/>
    <p:sldId id="261" r:id="rId8"/>
    <p:sldId id="285" r:id="rId9"/>
    <p:sldId id="298" r:id="rId10"/>
    <p:sldId id="300" r:id="rId11"/>
    <p:sldId id="299" r:id="rId12"/>
    <p:sldId id="303" r:id="rId13"/>
    <p:sldId id="301" r:id="rId14"/>
    <p:sldId id="304" r:id="rId15"/>
    <p:sldId id="305" r:id="rId16"/>
    <p:sldId id="265" r:id="rId17"/>
    <p:sldId id="307" r:id="rId18"/>
    <p:sldId id="262" r:id="rId19"/>
    <p:sldId id="280" r:id="rId20"/>
    <p:sldId id="279" r:id="rId21"/>
    <p:sldId id="306" r:id="rId22"/>
    <p:sldId id="2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51"/>
    <a:srgbClr val="2C567A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887" autoAdjust="0"/>
  </p:normalViewPr>
  <p:slideViewPr>
    <p:cSldViewPr snapToGrid="0" showGuides="1">
      <p:cViewPr varScale="1">
        <p:scale>
          <a:sx n="84" d="100"/>
          <a:sy n="84" d="100"/>
        </p:scale>
        <p:origin x="61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10/23/2025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10/23/2025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issflow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sponsivedesignchecker.com/" TargetMode="External"/><Relationship Id="rId2" Type="http://schemas.openxmlformats.org/officeDocument/2006/relationships/hyperlink" Target="https://pagespeed.web.dev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avidhf.wixsite.com/digitoil.co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ubspot.com/" TargetMode="External"/><Relationship Id="rId2" Type="http://schemas.openxmlformats.org/officeDocument/2006/relationships/hyperlink" Target="https://kissflow.com/?utm_source=chatgpt.com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business/insights/tools" TargetMode="External"/><Relationship Id="rId13" Type="http://schemas.openxmlformats.org/officeDocument/2006/relationships/hyperlink" Target="https://clarity.microsoft.com/" TargetMode="External"/><Relationship Id="rId3" Type="http://schemas.openxmlformats.org/officeDocument/2006/relationships/hyperlink" Target="https://chromewebstore.google.com/detail/seo-meta-in-1-click/bjogjfinolnhfhkbipphpdlldadpnmhc" TargetMode="External"/><Relationship Id="rId7" Type="http://schemas.openxmlformats.org/officeDocument/2006/relationships/hyperlink" Target="https://www.linkedin.com/help/linkedin/answer/a507160" TargetMode="External"/><Relationship Id="rId12" Type="http://schemas.openxmlformats.org/officeDocument/2006/relationships/hyperlink" Target="https://www.hotjar.com/" TargetMode="External"/><Relationship Id="rId2" Type="http://schemas.openxmlformats.org/officeDocument/2006/relationships/hyperlink" Target="https://pagespeed.web.dev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ioseo.com/seo-analyzer/" TargetMode="External"/><Relationship Id="rId11" Type="http://schemas.openxmlformats.org/officeDocument/2006/relationships/hyperlink" Target="https://www.hubspot.com/products/marketing" TargetMode="External"/><Relationship Id="rId5" Type="http://schemas.openxmlformats.org/officeDocument/2006/relationships/hyperlink" Target="https://rankmath.com/tools/seo-analyzer/" TargetMode="External"/><Relationship Id="rId10" Type="http://schemas.openxmlformats.org/officeDocument/2006/relationships/hyperlink" Target="https://studio.youtube.com/" TargetMode="External"/><Relationship Id="rId4" Type="http://schemas.openxmlformats.org/officeDocument/2006/relationships/hyperlink" Target="https://responsivedesignchecker.com/" TargetMode="External"/><Relationship Id="rId9" Type="http://schemas.openxmlformats.org/officeDocument/2006/relationships/hyperlink" Target="https://analytics.twitter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0624"/>
            <a:ext cx="10954512" cy="2441448"/>
          </a:xfrm>
        </p:spPr>
        <p:txBody>
          <a:bodyPr anchor="b"/>
          <a:lstStyle/>
          <a:p>
            <a:r>
              <a:rPr lang="en-US" sz="5400" dirty="0"/>
              <a:t>Comprehensive Audit and Analysis for Effective Digital Presence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Presented by JAVIDH FARHAN 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968" y="978408"/>
            <a:ext cx="4050792" cy="4315968"/>
          </a:xfrm>
          <a:noFill/>
        </p:spPr>
        <p:txBody>
          <a:bodyPr>
            <a:noAutofit/>
          </a:bodyPr>
          <a:lstStyle/>
          <a:p>
            <a:r>
              <a:rPr lang="en-IN" dirty="0"/>
              <a:t>Project Overview</a:t>
            </a:r>
          </a:p>
          <a:p>
            <a:r>
              <a:rPr lang="en-US" dirty="0"/>
              <a:t>Selected Company</a:t>
            </a:r>
          </a:p>
          <a:p>
            <a:r>
              <a:rPr lang="en-US" dirty="0"/>
              <a:t>Website Audit – Design &amp; UX</a:t>
            </a:r>
          </a:p>
          <a:p>
            <a:r>
              <a:rPr lang="en-US" dirty="0"/>
              <a:t>Website Audit – SEO Analysis</a:t>
            </a:r>
          </a:p>
          <a:p>
            <a:r>
              <a:rPr lang="en-US" dirty="0"/>
              <a:t>Digital Marketing Analysis</a:t>
            </a:r>
          </a:p>
          <a:p>
            <a:r>
              <a:rPr lang="en-US" dirty="0"/>
              <a:t>Digital Marketing Strategy Recommendations</a:t>
            </a:r>
          </a:p>
          <a:p>
            <a:r>
              <a:rPr lang="en-US" dirty="0"/>
              <a:t>Landing Page / Website Design Mockup</a:t>
            </a:r>
          </a:p>
          <a:p>
            <a:r>
              <a:rPr lang="en-US" dirty="0"/>
              <a:t>Expected Business Impact</a:t>
            </a:r>
          </a:p>
          <a:p>
            <a:r>
              <a:rPr lang="en-US" dirty="0"/>
              <a:t>Conclusion &amp; Learnings</a:t>
            </a:r>
          </a:p>
          <a:p>
            <a:r>
              <a:rPr lang="en-IN" dirty="0"/>
              <a:t>References / Tools Used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667512"/>
            <a:ext cx="4398264" cy="740664"/>
          </a:xfrm>
          <a:noFill/>
        </p:spPr>
        <p:txBody>
          <a:bodyPr>
            <a:noAutofit/>
          </a:bodyPr>
          <a:lstStyle/>
          <a:p>
            <a:pPr algn="l"/>
            <a:r>
              <a:rPr lang="en-IN" sz="3600" dirty="0"/>
              <a:t>PROJECT OVERVIEW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2" y="1536192"/>
            <a:ext cx="11823192" cy="3099816"/>
          </a:xfrm>
          <a:noFill/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In today’s digital-first business environment, a strong and optimized web presence is essential for attracting, engaging, and converting customers.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Many organizations struggle to achieve this due to ineffective website design, unclear digital marketing strategies, and poor search engine visibility.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Strengthen understanding of digital marketing fundamentals.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Gain practical experience in website and SEO auditing.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Apply strategic recommendations to enhance web performance and marketing ROI.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1800" dirty="0"/>
              <a:t>Build a conversion-oriented landing page aligned with brand and audience needs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406908"/>
            <a:ext cx="6089904" cy="978408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112" y="1394460"/>
            <a:ext cx="8028432" cy="4069080"/>
          </a:xfrm>
          <a:noFill/>
        </p:spPr>
        <p:txBody>
          <a:bodyPr>
            <a:no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Name: </a:t>
            </a:r>
            <a:r>
              <a:rPr lang="en-US" sz="1800" dirty="0"/>
              <a:t>Kissflow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Industry: </a:t>
            </a:r>
            <a:r>
              <a:rPr lang="en-US" sz="1800" dirty="0"/>
              <a:t>Low-code / No-code enterprise application &amp; workflow automation platform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Website: </a:t>
            </a:r>
            <a:r>
              <a:rPr lang="en-US" sz="1800" dirty="0">
                <a:hlinkClick r:id="rId2"/>
              </a:rPr>
              <a:t>https://kissflow.com/</a:t>
            </a:r>
            <a:endParaRPr lang="en-US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Description: </a:t>
            </a:r>
            <a:r>
              <a:rPr lang="en-US" sz="1800" dirty="0"/>
              <a:t>Kissflow provides a platform for building custom enterprise applications, workflow automation, case management and digital transformation initiatives  combining low-code / no-code capabilities with governance and scalability.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C00000"/>
                </a:solidFill>
              </a:rPr>
              <a:t>Target Audience: </a:t>
            </a:r>
            <a:r>
              <a:rPr lang="en-US" sz="1800" dirty="0"/>
              <a:t>IT &amp; operations teams in enterprises, business users who need to automate processes without heavy coding, departments that require workflow orchestration, citizen developers, process owners.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4872" y="1344168"/>
            <a:ext cx="7004304" cy="1097280"/>
          </a:xfrm>
          <a:noFill/>
        </p:spPr>
        <p:txBody>
          <a:bodyPr>
            <a:noAutofit/>
          </a:bodyPr>
          <a:lstStyle/>
          <a:p>
            <a:r>
              <a:rPr lang="en-US" dirty="0"/>
              <a:t>Website Audit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6351" y="2674620"/>
            <a:ext cx="7004303" cy="580644"/>
          </a:xfrm>
          <a:noFill/>
        </p:spPr>
        <p:txBody>
          <a:bodyPr>
            <a:noAutofit/>
          </a:bodyPr>
          <a:lstStyle/>
          <a:p>
            <a:r>
              <a:rPr lang="en-US" dirty="0"/>
              <a:t>Design &amp;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E77A-01AA-2A20-85F9-46D4F362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7CC61A-0E8A-5E13-5272-15B6216FD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18356"/>
              </p:ext>
            </p:extLst>
          </p:nvPr>
        </p:nvGraphicFramePr>
        <p:xfrm>
          <a:off x="283464" y="274320"/>
          <a:ext cx="11521440" cy="5888737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524137089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620095474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3904980216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1371139565"/>
                    </a:ext>
                  </a:extLst>
                </a:gridCol>
              </a:tblGrid>
              <a:tr h="2183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Arial Black" panose="020B0A04020102020204" pitchFamily="34" charset="0"/>
                        </a:rPr>
                        <a:t>Factor</a:t>
                      </a:r>
                      <a:endParaRPr lang="en-IN" sz="1000" dirty="0">
                        <a:latin typeface="Arial Black" panose="020B0A04020102020204" pitchFamily="34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Arial Black" panose="020B0A04020102020204" pitchFamily="34" charset="0"/>
                        </a:rPr>
                        <a:t>Observation</a:t>
                      </a:r>
                      <a:endParaRPr lang="en-IN" sz="1000" dirty="0">
                        <a:latin typeface="Arial Black" panose="020B0A04020102020204" pitchFamily="34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Arial Black" panose="020B0A04020102020204" pitchFamily="34" charset="0"/>
                        </a:rPr>
                        <a:t>Issue</a:t>
                      </a:r>
                      <a:endParaRPr lang="en-IN" sz="1000" dirty="0">
                        <a:latin typeface="Arial Black" panose="020B0A04020102020204" pitchFamily="34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latin typeface="Arial Black" panose="020B0A04020102020204" pitchFamily="34" charset="0"/>
                        </a:rPr>
                        <a:t>Recommendation</a:t>
                      </a:r>
                      <a:endParaRPr lang="en-IN" sz="1000" dirty="0">
                        <a:latin typeface="Arial Black" panose="020B0A04020102020204" pitchFamily="34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502139"/>
                  </a:ext>
                </a:extLst>
              </a:tr>
              <a:tr h="1337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rgbClr val="C00000"/>
                          </a:solidFill>
                        </a:rPr>
                        <a:t>Page Speed</a:t>
                      </a:r>
                      <a:endParaRPr lang="en-IN" sz="1000" dirty="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The homepage loads in around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3.8 seconds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(tested via 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PageSpeed.web.dev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) with a performance score of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72/100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on desktop and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59/100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on mobile.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Moderate loading time may affect mobile user retention.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Compress large images, enable browser caching, and use a CDN for faster global delivery.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555717"/>
                  </a:ext>
                </a:extLst>
              </a:tr>
              <a:tr h="69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C00000"/>
                          </a:solidFill>
                        </a:rPr>
                        <a:t>Navigation</a:t>
                      </a:r>
                      <a:endParaRPr lang="en-IN" sz="100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Main menu has clear sections: </a:t>
                      </a:r>
                      <a:r>
                        <a:rPr lang="en-US" sz="1000" i="1" dirty="0">
                          <a:solidFill>
                            <a:schemeClr val="tx1"/>
                          </a:solidFill>
                        </a:rPr>
                        <a:t>Products, Solutions, Pricing, Resources, Company.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Slightly overwhelming dropdowns with multiple options might confuse new visitors.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Simplify dropdown menus and consider a “mega menu” layout to enhance clarity.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479672"/>
                  </a:ext>
                </a:extLst>
              </a:tr>
              <a:tr h="1016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C00000"/>
                          </a:solidFill>
                        </a:rPr>
                        <a:t>Responsiveness</a:t>
                      </a:r>
                      <a:endParaRPr lang="en-IN" sz="100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The site adjusts well across desktop, tablet, and mobile screens. Tested using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responsivedesignchecker.com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Some minor spacing and alignment issues in the mobile footer area.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Optimize mobile padding and font scaling for better readability on smaller screens.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651360"/>
                  </a:ext>
                </a:extLst>
              </a:tr>
              <a:tr h="69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C00000"/>
                          </a:solidFill>
                        </a:rPr>
                        <a:t>Visual Design</a:t>
                      </a:r>
                      <a:endParaRPr lang="en-IN" sz="100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Consistent color palette (blue, purple, white) aligned with brand identity.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Hero section could use a stronger visual hierarchy for CTAs.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Make the primary CTA (“Get Started” / “Book a Demo”) more prominent with a contrasting color.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372870"/>
                  </a:ext>
                </a:extLst>
              </a:tr>
              <a:tr h="69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C00000"/>
                          </a:solidFill>
                        </a:rPr>
                        <a:t>Content Layout</a:t>
                      </a:r>
                      <a:endParaRPr lang="en-IN" sz="100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Well-structured sections highlighting features, solutions, and case studies.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Some pages contain heavy text blocks.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Break long paragraphs into bullet points; add icons or visuals for easier scanning.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593417"/>
                  </a:ext>
                </a:extLst>
              </a:tr>
              <a:tr h="534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>
                          <a:solidFill>
                            <a:srgbClr val="C00000"/>
                          </a:solidFill>
                        </a:rPr>
                        <a:t>Accessibility</a:t>
                      </a:r>
                      <a:endParaRPr lang="en-IN" sz="100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Text contrast is readable; images have alt text for accessibility.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Some CTA buttons lack descriptive ARIA labels for screen readers.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Add accessibility tags (ARIA labels) to all interactive elements.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24694"/>
                  </a:ext>
                </a:extLst>
              </a:tr>
              <a:tr h="695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rgbClr val="C00000"/>
                          </a:solidFill>
                        </a:rPr>
                        <a:t>Interactivity &amp; Engagement</a:t>
                      </a:r>
                      <a:endParaRPr lang="en-IN" sz="1000" dirty="0">
                        <a:solidFill>
                          <a:srgbClr val="C00000"/>
                        </a:solidFill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tx1"/>
                          </a:solidFill>
                        </a:rPr>
                        <a:t>Contains videos, customer logos, and testimonials.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Limited use of interactive demos or product previews.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Add short interactive elements (like product walkthroughs or tooltips) to engage users.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0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81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2459-17E2-6C76-2672-AA4B266A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81F6-4C7E-4729-FBFD-92F591536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4872" y="1344168"/>
            <a:ext cx="7004304" cy="1097280"/>
          </a:xfrm>
          <a:noFill/>
        </p:spPr>
        <p:txBody>
          <a:bodyPr>
            <a:noAutofit/>
          </a:bodyPr>
          <a:lstStyle/>
          <a:p>
            <a:r>
              <a:rPr lang="en-US" dirty="0"/>
              <a:t>Website Audit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4D740-94AF-55B2-CE4D-CA2A2DFB5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831" y="2638044"/>
            <a:ext cx="7004303" cy="580644"/>
          </a:xfrm>
          <a:noFill/>
        </p:spPr>
        <p:txBody>
          <a:bodyPr>
            <a:noAutofit/>
          </a:bodyPr>
          <a:lstStyle/>
          <a:p>
            <a:r>
              <a:rPr lang="en-US" dirty="0"/>
              <a:t>SEO Audit</a:t>
            </a:r>
          </a:p>
        </p:txBody>
      </p:sp>
    </p:spTree>
    <p:extLst>
      <p:ext uri="{BB962C8B-B14F-4D97-AF65-F5344CB8AC3E}">
        <p14:creationId xmlns:p14="http://schemas.microsoft.com/office/powerpoint/2010/main" val="414077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11EA-4A2B-09AD-11F4-6B36BEF3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00057-0F80-00D4-C1F5-29B95966B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86270"/>
              </p:ext>
            </p:extLst>
          </p:nvPr>
        </p:nvGraphicFramePr>
        <p:xfrm>
          <a:off x="164592" y="201168"/>
          <a:ext cx="11420856" cy="5891797"/>
        </p:xfrm>
        <a:graphic>
          <a:graphicData uri="http://schemas.openxmlformats.org/drawingml/2006/table">
            <a:tbl>
              <a:tblPr/>
              <a:tblGrid>
                <a:gridCol w="2855214">
                  <a:extLst>
                    <a:ext uri="{9D8B030D-6E8A-4147-A177-3AD203B41FA5}">
                      <a16:colId xmlns:a16="http://schemas.microsoft.com/office/drawing/2014/main" val="889575482"/>
                    </a:ext>
                  </a:extLst>
                </a:gridCol>
                <a:gridCol w="2855214">
                  <a:extLst>
                    <a:ext uri="{9D8B030D-6E8A-4147-A177-3AD203B41FA5}">
                      <a16:colId xmlns:a16="http://schemas.microsoft.com/office/drawing/2014/main" val="1070579231"/>
                    </a:ext>
                  </a:extLst>
                </a:gridCol>
                <a:gridCol w="2855214">
                  <a:extLst>
                    <a:ext uri="{9D8B030D-6E8A-4147-A177-3AD203B41FA5}">
                      <a16:colId xmlns:a16="http://schemas.microsoft.com/office/drawing/2014/main" val="745026437"/>
                    </a:ext>
                  </a:extLst>
                </a:gridCol>
                <a:gridCol w="2855214">
                  <a:extLst>
                    <a:ext uri="{9D8B030D-6E8A-4147-A177-3AD203B41FA5}">
                      <a16:colId xmlns:a16="http://schemas.microsoft.com/office/drawing/2014/main" val="4069865870"/>
                    </a:ext>
                  </a:extLst>
                </a:gridCol>
              </a:tblGrid>
              <a:tr h="220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SEO Element</a:t>
                      </a:r>
                      <a:endParaRPr lang="en-IN" sz="12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Observation</a:t>
                      </a:r>
                      <a:endParaRPr lang="en-IN" sz="12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Issue</a:t>
                      </a:r>
                      <a:endParaRPr lang="en-IN" sz="12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Recommendation</a:t>
                      </a:r>
                      <a:endParaRPr lang="en-IN" sz="12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932949"/>
                  </a:ext>
                </a:extLst>
              </a:tr>
              <a:tr h="83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Title Tags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Rankmath Seo Analyser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Each page has unique, keyword-based titles like </a:t>
                      </a:r>
                      <a:r>
                        <a:rPr lang="en-US" sz="1100" i="1" dirty="0"/>
                        <a:t>“Kissflow – Workflow Automation Software.”</a:t>
                      </a:r>
                      <a:endParaRPr lang="en-US" sz="11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Some titles exceed ideal length (60 characters).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Shorten and make titles more action-oriented (e.g., </a:t>
                      </a:r>
                      <a:r>
                        <a:rPr lang="en-US" sz="1100" i="1"/>
                        <a:t>“Kissflow: Automate Workflows Easily”</a:t>
                      </a:r>
                      <a:r>
                        <a:rPr lang="en-US" sz="1100"/>
                        <a:t>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59906"/>
                  </a:ext>
                </a:extLst>
              </a:tr>
              <a:tr h="52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Meta Descriptions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SEO Meta in 1 Click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Clear and relevant; describe products and services effectively.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 few pages lack optimized meta descriptions.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 keyword-rich meta descriptions (under 160 characters).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72964"/>
                  </a:ext>
                </a:extLst>
              </a:tr>
              <a:tr h="680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Headings (H1, H2)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SEO Audit Tool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Proper hierarchy with descriptive H1 tags (e.g., “Digital Workplace Platform”).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Multiple H1s found on some pages.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Limit to one H1 per page and use H2/H3 for structure.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54728"/>
                  </a:ext>
                </a:extLst>
              </a:tr>
              <a:tr h="838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Keywords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Google Keyword Planner</a:t>
                      </a:r>
                      <a:endParaRPr lang="en-IN" sz="1100" b="1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Uses relevant keywords like </a:t>
                      </a:r>
                      <a:r>
                        <a:rPr lang="en-US" sz="1100" i="1" dirty="0"/>
                        <a:t>workflow automation</a:t>
                      </a:r>
                      <a:r>
                        <a:rPr lang="en-US" sz="1100" dirty="0"/>
                        <a:t>, </a:t>
                      </a:r>
                      <a:r>
                        <a:rPr lang="en-US" sz="1100" i="1" dirty="0"/>
                        <a:t>low-code platform</a:t>
                      </a:r>
                      <a:r>
                        <a:rPr lang="en-US" sz="1100" dirty="0"/>
                        <a:t>, </a:t>
                      </a:r>
                      <a:r>
                        <a:rPr lang="en-US" sz="1100" i="1" dirty="0"/>
                        <a:t>process management.</a:t>
                      </a:r>
                      <a:endParaRPr lang="en-US" sz="11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Missing long-tail keywords for niche topics.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Integrate more long-tail keywords (e.g., </a:t>
                      </a:r>
                      <a:r>
                        <a:rPr lang="en-US" sz="1100" i="1"/>
                        <a:t>“no-code workflow builder for enterprises”</a:t>
                      </a:r>
                      <a:r>
                        <a:rPr lang="en-US" sz="1100"/>
                        <a:t>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542484"/>
                  </a:ext>
                </a:extLst>
              </a:tr>
              <a:tr h="52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Image Optimization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Google Page Speed Insights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Images are high quality and contain alt text.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large images slow down mobile load speed.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Compress images and use </a:t>
                      </a:r>
                      <a:r>
                        <a:rPr lang="en-US" sz="1100" dirty="0" err="1"/>
                        <a:t>WebP</a:t>
                      </a:r>
                      <a:r>
                        <a:rPr lang="en-US" sz="1100" dirty="0"/>
                        <a:t> format for faster loading.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80120"/>
                  </a:ext>
                </a:extLst>
              </a:tr>
              <a:tr h="52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Internal Linking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yoast.com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Strong internal linking between product and solution pages.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Few contextual links in blog posts.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Add more internal links to drive SEO authority to key pages.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001181"/>
                  </a:ext>
                </a:extLst>
              </a:tr>
              <a:tr h="680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Backlinks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Ubersuggest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Good number of backlinks from reputable tech blogs and review sites.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.</a:t>
                      </a:r>
                      <a:r>
                        <a:rPr lang="en-US" sz="1100" dirty="0" err="1"/>
                        <a:t>edu</a:t>
                      </a:r>
                      <a:r>
                        <a:rPr lang="en-US" sz="1100" dirty="0"/>
                        <a:t>/.gov or high-authority domain backlinks.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Improve off-page SEO with guest posts and partnerships.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719014"/>
                  </a:ext>
                </a:extLst>
              </a:tr>
              <a:tr h="52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URL Structure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Google SEO Guidelines</a:t>
                      </a:r>
                    </a:p>
                    <a:p>
                      <a:pPr>
                        <a:buNone/>
                      </a:pPr>
                      <a:endParaRPr lang="en-IN" sz="1100" dirty="0"/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Clean and descriptive URLs (e.g., /workflow-automation/).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Some URLs slightly long with extra words.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Keep URLs concise and keyword-focused.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85546"/>
                  </a:ext>
                </a:extLst>
              </a:tr>
              <a:tr h="523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Schema Markup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schema.org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Basic schema used for organization info.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Missing product and review schema.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Implement product &amp; review schema for better SERP visibility.</a:t>
                      </a:r>
                    </a:p>
                  </a:txBody>
                  <a:tcPr marL="35667" marR="35667" marT="17833" marB="178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439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164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89C2-D4D3-BF0C-2908-A93C8D3F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C78A-9DFE-FEB1-CA0D-6A838CA6D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4872" y="1344168"/>
            <a:ext cx="7004304" cy="1097280"/>
          </a:xfrm>
          <a:noFill/>
        </p:spPr>
        <p:txBody>
          <a:bodyPr>
            <a:noAutofit/>
          </a:bodyPr>
          <a:lstStyle/>
          <a:p>
            <a:r>
              <a:rPr lang="en-IN" dirty="0"/>
              <a:t>Digital Marketing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39454-0481-78CB-9D34-905F0103D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831" y="2638044"/>
            <a:ext cx="7854697" cy="580644"/>
          </a:xfrm>
          <a:noFill/>
        </p:spPr>
        <p:txBody>
          <a:bodyPr>
            <a:noAutofit/>
          </a:bodyPr>
          <a:lstStyle/>
          <a:p>
            <a:r>
              <a:rPr lang="en-US" dirty="0"/>
              <a:t>Social Media Presence &amp; Summary</a:t>
            </a:r>
          </a:p>
        </p:txBody>
      </p:sp>
    </p:spTree>
    <p:extLst>
      <p:ext uri="{BB962C8B-B14F-4D97-AF65-F5344CB8AC3E}">
        <p14:creationId xmlns:p14="http://schemas.microsoft.com/office/powerpoint/2010/main" val="776026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DF23-E4D7-7FC0-0D65-9A329AFB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025C7A-E6D8-16D5-FE1D-FE03AA54D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704852"/>
              </p:ext>
            </p:extLst>
          </p:nvPr>
        </p:nvGraphicFramePr>
        <p:xfrm>
          <a:off x="345966" y="209270"/>
          <a:ext cx="11317188" cy="6054372"/>
        </p:xfrm>
        <a:graphic>
          <a:graphicData uri="http://schemas.openxmlformats.org/drawingml/2006/table">
            <a:tbl>
              <a:tblPr/>
              <a:tblGrid>
                <a:gridCol w="2552682">
                  <a:extLst>
                    <a:ext uri="{9D8B030D-6E8A-4147-A177-3AD203B41FA5}">
                      <a16:colId xmlns:a16="http://schemas.microsoft.com/office/drawing/2014/main" val="3902168675"/>
                    </a:ext>
                  </a:extLst>
                </a:gridCol>
                <a:gridCol w="3105912">
                  <a:extLst>
                    <a:ext uri="{9D8B030D-6E8A-4147-A177-3AD203B41FA5}">
                      <a16:colId xmlns:a16="http://schemas.microsoft.com/office/drawing/2014/main" val="3116128234"/>
                    </a:ext>
                  </a:extLst>
                </a:gridCol>
                <a:gridCol w="2829297">
                  <a:extLst>
                    <a:ext uri="{9D8B030D-6E8A-4147-A177-3AD203B41FA5}">
                      <a16:colId xmlns:a16="http://schemas.microsoft.com/office/drawing/2014/main" val="2003736067"/>
                    </a:ext>
                  </a:extLst>
                </a:gridCol>
                <a:gridCol w="2829297">
                  <a:extLst>
                    <a:ext uri="{9D8B030D-6E8A-4147-A177-3AD203B41FA5}">
                      <a16:colId xmlns:a16="http://schemas.microsoft.com/office/drawing/2014/main" val="682491936"/>
                    </a:ext>
                  </a:extLst>
                </a:gridCol>
              </a:tblGrid>
              <a:tr h="392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Platform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Observation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Issue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Recommendation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161287"/>
                  </a:ext>
                </a:extLst>
              </a:tr>
              <a:tr h="68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LinkedIn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LinkedIn Analytics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Active with regular updates and blogs.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Engagement is average.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Post more interactive and visual content.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814223"/>
                  </a:ext>
                </a:extLst>
              </a:tr>
              <a:tr h="68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Twitter (X)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 Analytics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Shares news and updates.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Low engagement rate.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Use more hashtags and reply to followers.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979222"/>
                  </a:ext>
                </a:extLst>
              </a:tr>
              <a:tr h="68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Facebook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Facebook Insights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Posts product info and events.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Less active and fewer likes.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Share more engaging stories and videos.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432142"/>
                  </a:ext>
                </a:extLst>
              </a:tr>
              <a:tr h="970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YouTube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YouTube Studio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Has tutorials and demos.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Inconsistent posting.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Upload videos regularly with better titles and tags.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46386"/>
                  </a:ext>
                </a:extLst>
              </a:tr>
              <a:tr h="970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Instagram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Instagram Insights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Limited content and followers.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Low visibility.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Add creative posts, stories, and customer highlights.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457521"/>
                  </a:ext>
                </a:extLst>
              </a:tr>
              <a:tr h="68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Blog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WordPress Analytics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Covers workflow and automation topics.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Some posts are old.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Post more often and update older blogs.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532127"/>
                  </a:ext>
                </a:extLst>
              </a:tr>
              <a:tr h="970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FF0000"/>
                          </a:solidFill>
                        </a:rPr>
                        <a:t>Email</a:t>
                      </a:r>
                    </a:p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HubSpot Email Tool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Sends product updates.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May be too product-focused.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ptos Narrow" panose="020B0004020202020204" pitchFamily="34" charset="0"/>
                        </a:rPr>
                        <a:t>Personalize messages and include stronger CTAs.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14612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D87646-4056-3898-0F1A-B58CA4C5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29" y="822960"/>
            <a:ext cx="506839" cy="368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A4CA5-7C77-8639-A4FE-768A9169C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929" y="1417319"/>
            <a:ext cx="503751" cy="50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4743E1-CA7A-7446-7025-71129875D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929" y="2146685"/>
            <a:ext cx="548688" cy="503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010D3B-BD4D-D2D8-437F-9FB025B30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929" y="2943886"/>
            <a:ext cx="548689" cy="370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40DE53-69D9-465B-8039-99E68C7CD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928" y="3926320"/>
            <a:ext cx="548689" cy="4695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C9420D-E1BC-4742-E708-275E8AEEE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8927" y="4793664"/>
            <a:ext cx="548689" cy="4695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5F9CF2-EC70-955F-35CC-3B27239C79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776" y="5661008"/>
            <a:ext cx="506840" cy="36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1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D5DE-7ED7-0C50-5275-023AF8EE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52EC-FEA4-85CD-C83A-2DD461301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4872" y="1344168"/>
            <a:ext cx="7004304" cy="1097280"/>
          </a:xfrm>
          <a:noFill/>
        </p:spPr>
        <p:txBody>
          <a:bodyPr>
            <a:noAutofit/>
          </a:bodyPr>
          <a:lstStyle/>
          <a:p>
            <a:r>
              <a:rPr lang="en-IN" dirty="0"/>
              <a:t>Digital Marketing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3C683-B5EC-44C0-9E93-8462109E3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831" y="2638044"/>
            <a:ext cx="7854697" cy="580644"/>
          </a:xfrm>
          <a:noFill/>
        </p:spPr>
        <p:txBody>
          <a:bodyPr>
            <a:noAutofit/>
          </a:bodyPr>
          <a:lstStyle/>
          <a:p>
            <a:r>
              <a:rPr lang="en-US" dirty="0"/>
              <a:t>SWOT </a:t>
            </a:r>
            <a:r>
              <a:rPr lang="en-US" dirty="0" err="1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1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D533-E7E4-B248-A94C-13B403D6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742379-0167-AD85-C8CF-5F471E471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23813"/>
              </p:ext>
            </p:extLst>
          </p:nvPr>
        </p:nvGraphicFramePr>
        <p:xfrm>
          <a:off x="966216" y="49914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457631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349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Strengths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Weaknesses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70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Low-Code/No-Code Leadership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Limited Brand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6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Global Enterprise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Feature Depth vs. Breadth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628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Unified Digital Workplace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Inconsistent Content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49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User-Centric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2079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1C17F6-6CB3-4515-E923-01C64B9D2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39873"/>
              </p:ext>
            </p:extLst>
          </p:nvPr>
        </p:nvGraphicFramePr>
        <p:xfrm>
          <a:off x="966216" y="3169190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618106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4021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Opportunities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Threats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7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Growing Demand for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Intense Competition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62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SME Market Penetration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Security &amp; Compliance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605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AI &amp; Analytics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Market Saturation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80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Strategic Partnerships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15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65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4" y="1161288"/>
            <a:ext cx="4773168" cy="832104"/>
          </a:xfrm>
          <a:noFill/>
        </p:spPr>
        <p:txBody>
          <a:bodyPr>
            <a:noAutofit/>
          </a:bodyPr>
          <a:lstStyle/>
          <a:p>
            <a:r>
              <a:rPr lang="en-US" dirty="0"/>
              <a:t>LANDING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736" y="2554552"/>
            <a:ext cx="5971032" cy="5029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hlinkClick r:id="rId2"/>
              </a:rPr>
              <a:t>https://javidhf.wixsite.com/digitoil.com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D4C4-BCCC-AF97-FC10-478D1974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2323-BE3A-DE81-E43A-866A03AE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93192"/>
            <a:ext cx="9948672" cy="832104"/>
          </a:xfrm>
          <a:noFill/>
        </p:spPr>
        <p:txBody>
          <a:bodyPr>
            <a:noAutofit/>
          </a:bodyPr>
          <a:lstStyle/>
          <a:p>
            <a:r>
              <a:rPr lang="en-US" dirty="0"/>
              <a:t>Expected Business Impact of Kissflow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67D7-3B67-3224-172B-5EF6F5E5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3872" y="1225296"/>
            <a:ext cx="5971032" cy="358444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Conversion Rate Improvement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Low-Code Accessibility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Customer Success Stories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Personalized Workflows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Engagement &amp; Brand Awareness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Global Enterprise Reach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Content Strategy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Social Media Sentiment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Thought Leadership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018B04-1771-EAF7-CB73-FD5666BD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99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466344"/>
            <a:ext cx="9016248" cy="749808"/>
          </a:xfrm>
          <a:noFill/>
        </p:spPr>
        <p:txBody>
          <a:bodyPr>
            <a:noAutofit/>
          </a:bodyPr>
          <a:lstStyle/>
          <a:p>
            <a:r>
              <a:rPr lang="en-US" dirty="0"/>
              <a:t> Kissflow Optimization Strategy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B210D1-81C7-F153-5F44-0C86B3E20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66888"/>
              </p:ext>
            </p:extLst>
          </p:nvPr>
        </p:nvGraphicFramePr>
        <p:xfrm>
          <a:off x="749808" y="1216152"/>
          <a:ext cx="10634472" cy="4860768"/>
        </p:xfrm>
        <a:graphic>
          <a:graphicData uri="http://schemas.openxmlformats.org/drawingml/2006/table">
            <a:tbl>
              <a:tblPr/>
              <a:tblGrid>
                <a:gridCol w="2658618">
                  <a:extLst>
                    <a:ext uri="{9D8B030D-6E8A-4147-A177-3AD203B41FA5}">
                      <a16:colId xmlns:a16="http://schemas.microsoft.com/office/drawing/2014/main" val="3729058456"/>
                    </a:ext>
                  </a:extLst>
                </a:gridCol>
                <a:gridCol w="2658618">
                  <a:extLst>
                    <a:ext uri="{9D8B030D-6E8A-4147-A177-3AD203B41FA5}">
                      <a16:colId xmlns:a16="http://schemas.microsoft.com/office/drawing/2014/main" val="2768319076"/>
                    </a:ext>
                  </a:extLst>
                </a:gridCol>
                <a:gridCol w="2658618">
                  <a:extLst>
                    <a:ext uri="{9D8B030D-6E8A-4147-A177-3AD203B41FA5}">
                      <a16:colId xmlns:a16="http://schemas.microsoft.com/office/drawing/2014/main" val="1734719020"/>
                    </a:ext>
                  </a:extLst>
                </a:gridCol>
                <a:gridCol w="2658618">
                  <a:extLst>
                    <a:ext uri="{9D8B030D-6E8A-4147-A177-3AD203B41FA5}">
                      <a16:colId xmlns:a16="http://schemas.microsoft.com/office/drawing/2014/main" val="509451804"/>
                    </a:ext>
                  </a:extLst>
                </a:gridCol>
              </a:tblGrid>
              <a:tr h="428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0D1D51"/>
                          </a:solidFill>
                        </a:rPr>
                        <a:t>Area</a:t>
                      </a:r>
                      <a:endParaRPr lang="en-IN" sz="1400" dirty="0">
                        <a:solidFill>
                          <a:srgbClr val="0D1D51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0D1D51"/>
                          </a:solidFill>
                        </a:rPr>
                        <a:t>Current Status</a:t>
                      </a:r>
                      <a:endParaRPr lang="en-IN" sz="1400" dirty="0">
                        <a:solidFill>
                          <a:srgbClr val="0D1D51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0D1D51"/>
                          </a:solidFill>
                        </a:rPr>
                        <a:t>Expected Outcome After Implementation</a:t>
                      </a:r>
                      <a:endParaRPr lang="en-IN" sz="1400" dirty="0">
                        <a:solidFill>
                          <a:srgbClr val="0D1D51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rgbClr val="0D1D51"/>
                          </a:solidFill>
                        </a:rPr>
                        <a:t>Impact Description</a:t>
                      </a:r>
                      <a:endParaRPr lang="en-IN" sz="1400" dirty="0">
                        <a:solidFill>
                          <a:srgbClr val="0D1D51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955088"/>
                  </a:ext>
                </a:extLst>
              </a:tr>
              <a:tr h="94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</a:rPr>
                        <a:t>Conversion Rate Improvement</a:t>
                      </a:r>
                      <a:endParaRPr lang="en-IN" sz="1200" dirty="0">
                        <a:solidFill>
                          <a:srgbClr val="C00000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Current conversion rate estimated around </a:t>
                      </a:r>
                      <a:r>
                        <a:rPr lang="en-US" sz="1200" b="1" dirty="0"/>
                        <a:t>2–3%</a:t>
                      </a:r>
                      <a:r>
                        <a:rPr lang="en-US" sz="1200" dirty="0"/>
                        <a:t> based on general B2B SaaS averages.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Expected to increase to </a:t>
                      </a:r>
                      <a:r>
                        <a:rPr lang="en-US" sz="1200" b="1"/>
                        <a:t>4–5%</a:t>
                      </a:r>
                      <a:r>
                        <a:rPr lang="en-US" sz="1200"/>
                        <a:t> through optimized landing pages, stronger CTAs, and improved page speed.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Clearer messaging, faster load times, and better UX will lead to higher sign-ups and demo requests.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463525"/>
                  </a:ext>
                </a:extLst>
              </a:tr>
              <a:tr h="94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</a:rPr>
                        <a:t>Engagement &amp; Brand Awareness</a:t>
                      </a:r>
                      <a:endParaRPr lang="en-IN" sz="1200" dirty="0">
                        <a:solidFill>
                          <a:srgbClr val="C00000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Moderate engagement across LinkedIn and YouTube; lower on other platforms.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Increase engagement by </a:t>
                      </a:r>
                      <a:r>
                        <a:rPr lang="en-US" sz="1200" b="1" dirty="0"/>
                        <a:t>30–40%</a:t>
                      </a:r>
                      <a:r>
                        <a:rPr lang="en-US" sz="1200" dirty="0"/>
                        <a:t> through consistent posting, interactive content, and improved visuals.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More visibility across channels will enhance brand recognition and trust among potential clients.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02587"/>
                  </a:ext>
                </a:extLst>
              </a:tr>
              <a:tr h="769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C00000"/>
                          </a:solidFill>
                        </a:rPr>
                        <a:t>SEO &amp; Website Traffic</a:t>
                      </a:r>
                      <a:endParaRPr lang="en-IN" sz="1200">
                        <a:solidFill>
                          <a:srgbClr val="C00000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/>
                        <a:t>SEO score moderate (avg. 70–75/100).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Improvement to </a:t>
                      </a:r>
                      <a:r>
                        <a:rPr lang="en-US" sz="1200" b="1" dirty="0"/>
                        <a:t>85+</a:t>
                      </a:r>
                      <a:r>
                        <a:rPr lang="en-US" sz="1200" dirty="0"/>
                        <a:t> with on-page SEO, keyword optimization, and content refresh.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Higher organic traffic and better ranking on target keywords.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355663"/>
                  </a:ext>
                </a:extLst>
              </a:tr>
              <a:tr h="947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</a:rPr>
                        <a:t>Lead Generation</a:t>
                      </a:r>
                      <a:endParaRPr lang="en-IN" sz="1200" dirty="0">
                        <a:solidFill>
                          <a:srgbClr val="C00000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Lead generation primarily through demos and sign-ups.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/>
                        <a:t>Increase leads by 25–30%</a:t>
                      </a:r>
                      <a:r>
                        <a:rPr lang="en-US" sz="1200" dirty="0"/>
                        <a:t> with optimized landing pages and personalized email campaigns.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Enhanced targeting and user experience will drive better-quality leads.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438116"/>
                  </a:ext>
                </a:extLst>
              </a:tr>
              <a:tr h="769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C00000"/>
                          </a:solidFill>
                        </a:rPr>
                        <a:t>Customer Retention &amp; Loyalty</a:t>
                      </a:r>
                      <a:endParaRPr lang="en-IN" sz="1200" dirty="0">
                        <a:solidFill>
                          <a:srgbClr val="C00000"/>
                        </a:solidFill>
                      </a:endParaRP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/>
                        <a:t>Limited post-conversion engagement activities.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Introduce newsletters, webinars, and tutorials to boost retention by </a:t>
                      </a:r>
                      <a:r>
                        <a:rPr lang="en-US" sz="1200" b="1"/>
                        <a:t>15–20%</a:t>
                      </a:r>
                      <a:r>
                        <a:rPr lang="en-US" sz="1200"/>
                        <a:t>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Stronger customer relationships and recurring engagement.</a:t>
                      </a:r>
                    </a:p>
                  </a:txBody>
                  <a:tcPr marL="53720" marR="53720" marT="26860" marB="2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191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25196"/>
            <a:ext cx="3822192" cy="832104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50B9D9-206F-8B1A-202C-80D08EEA3973}"/>
              </a:ext>
            </a:extLst>
          </p:cNvPr>
          <p:cNvSpPr txBox="1"/>
          <p:nvPr/>
        </p:nvSpPr>
        <p:spPr>
          <a:xfrm>
            <a:off x="509778" y="1252728"/>
            <a:ext cx="61219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🔧 Key Focus Areas: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Media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7D3370-E195-D5D0-3535-98AA9FDB8CFA}"/>
              </a:ext>
            </a:extLst>
          </p:cNvPr>
          <p:cNvSpPr txBox="1"/>
          <p:nvPr/>
        </p:nvSpPr>
        <p:spPr>
          <a:xfrm>
            <a:off x="1873260" y="2541925"/>
            <a:ext cx="61219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📈 Expected Outcomes: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Conversion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Audience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Search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Stronger Brand Awareness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0E2BD4-1632-2DE3-D7C2-9916F16A4DE3}"/>
              </a:ext>
            </a:extLst>
          </p:cNvPr>
          <p:cNvSpPr txBox="1"/>
          <p:nvPr/>
        </p:nvSpPr>
        <p:spPr>
          <a:xfrm>
            <a:off x="3499866" y="4209026"/>
            <a:ext cx="61219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🧭 Strategic 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Demonstrates the power of combining data-driven analysis with creative marketing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aligning technical audits with audience-centric content, Kissflow is positioned to expand its digital footprint and achieve sustained business growth.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832104"/>
            <a:ext cx="8522208" cy="777240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US" dirty="0"/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43885-9E0B-D004-010E-262FD8CB5AA4}"/>
              </a:ext>
            </a:extLst>
          </p:cNvPr>
          <p:cNvSpPr txBox="1"/>
          <p:nvPr/>
        </p:nvSpPr>
        <p:spPr>
          <a:xfrm>
            <a:off x="1324356" y="2048131"/>
            <a:ext cx="107091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1. </a:t>
            </a:r>
            <a:r>
              <a:rPr lang="en-IN" dirty="0" err="1"/>
              <a:t>Kissflow</a:t>
            </a:r>
            <a:r>
              <a:rPr lang="en-IN" dirty="0"/>
              <a:t> Official Website – </a:t>
            </a:r>
            <a:r>
              <a:rPr lang="en-IN" dirty="0">
                <a:hlinkClick r:id="rId2"/>
              </a:rPr>
              <a:t>https://kissflow.com/</a:t>
            </a:r>
            <a:endParaRPr lang="en-IN" dirty="0"/>
          </a:p>
          <a:p>
            <a:r>
              <a:rPr lang="en-IN" dirty="0"/>
              <a:t>2. HubSpot Blog – </a:t>
            </a:r>
            <a:r>
              <a:rPr lang="en-IN" i="1" dirty="0"/>
              <a:t>Digital Marketing &amp; SEO Best Practices</a:t>
            </a:r>
            <a:r>
              <a:rPr lang="en-IN" dirty="0"/>
              <a:t> – </a:t>
            </a:r>
            <a:r>
              <a:rPr lang="en-IN" dirty="0">
                <a:hlinkClick r:id="rId3"/>
              </a:rPr>
              <a:t>https://blog.hubspot.com/</a:t>
            </a:r>
            <a:endParaRPr lang="en-IN" dirty="0"/>
          </a:p>
          <a:p>
            <a:r>
              <a:rPr lang="en-IN" dirty="0"/>
              <a:t>3. Neil Patel Blog – </a:t>
            </a:r>
            <a:r>
              <a:rPr lang="en-IN" i="1" dirty="0"/>
              <a:t>SEO &amp; Website Optimization Tips</a:t>
            </a:r>
            <a:r>
              <a:rPr lang="en-IN" dirty="0"/>
              <a:t> – https://neilpatel.com/blog/</a:t>
            </a:r>
          </a:p>
          <a:p>
            <a:r>
              <a:rPr lang="en-IN" dirty="0"/>
              <a:t>4. Sprout Social Insights – </a:t>
            </a:r>
            <a:r>
              <a:rPr lang="en-IN" i="1" dirty="0"/>
              <a:t>Social Media Marketing Guides</a:t>
            </a:r>
            <a:r>
              <a:rPr lang="en-IN" dirty="0"/>
              <a:t> – https://sproutsocial.com/insights/</a:t>
            </a:r>
          </a:p>
          <a:p>
            <a:r>
              <a:rPr lang="en-IN" dirty="0"/>
              <a:t>5. Google Analytics Documentation – https://support.google.com/analytics/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BB4E-4063-34A4-ACB1-44E81706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C5CBE3-7017-D9A3-3E59-045A43897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10312"/>
            <a:ext cx="8522208" cy="777240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US" sz="4400" dirty="0"/>
              <a:t>TOOLS: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507DC9-A73D-53A0-9C52-EA2449647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98514"/>
              </p:ext>
            </p:extLst>
          </p:nvPr>
        </p:nvGraphicFramePr>
        <p:xfrm>
          <a:off x="3886200" y="1124712"/>
          <a:ext cx="7882128" cy="4866946"/>
        </p:xfrm>
        <a:graphic>
          <a:graphicData uri="http://schemas.openxmlformats.org/drawingml/2006/table">
            <a:tbl>
              <a:tblPr/>
              <a:tblGrid>
                <a:gridCol w="2627376">
                  <a:extLst>
                    <a:ext uri="{9D8B030D-6E8A-4147-A177-3AD203B41FA5}">
                      <a16:colId xmlns:a16="http://schemas.microsoft.com/office/drawing/2014/main" val="3121171153"/>
                    </a:ext>
                  </a:extLst>
                </a:gridCol>
                <a:gridCol w="2627376">
                  <a:extLst>
                    <a:ext uri="{9D8B030D-6E8A-4147-A177-3AD203B41FA5}">
                      <a16:colId xmlns:a16="http://schemas.microsoft.com/office/drawing/2014/main" val="1334171779"/>
                    </a:ext>
                  </a:extLst>
                </a:gridCol>
                <a:gridCol w="2627376">
                  <a:extLst>
                    <a:ext uri="{9D8B030D-6E8A-4147-A177-3AD203B41FA5}">
                      <a16:colId xmlns:a16="http://schemas.microsoft.com/office/drawing/2014/main" val="1656130266"/>
                    </a:ext>
                  </a:extLst>
                </a:gridCol>
              </a:tblGrid>
              <a:tr h="231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Tool / Platform</a:t>
                      </a:r>
                      <a:endParaRPr lang="en-IN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920912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Website Audit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solidFill>
                            <a:srgbClr val="467886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PageSpeed</a:t>
                      </a: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Insights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528870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SEO Meta in 1 Click (Chrome Extension)</a:t>
                      </a:r>
                      <a:endParaRPr 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223362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Responsive Design Checker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640380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SEO Analysis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Rank Math SEO Analyzer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02136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AIOSEO Analyzer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43336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Social Media Audit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LinkedIn Analytics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07509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Facebook Insights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386016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Twitter Analytics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714610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YouTube Studio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70634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Email &amp; Marketing Tools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HubSpot Marketing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955045"/>
                  </a:ext>
                </a:extLst>
              </a:tr>
              <a:tr h="39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User </a:t>
                      </a:r>
                      <a:r>
                        <a:rPr lang="en-IN" sz="1600" b="1" dirty="0" err="1">
                          <a:solidFill>
                            <a:srgbClr val="FF0000"/>
                          </a:solidFill>
                        </a:rPr>
                        <a:t>Behavior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Hotjar</a:t>
                      </a: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/ </a:t>
                      </a: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Clarity</a:t>
                      </a:r>
                      <a:endParaRPr lang="en-I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40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529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 dirty="0"/>
              <a:t>JAVIDH FARHAN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176</TotalTime>
  <Words>1564</Words>
  <Application>Microsoft Office PowerPoint</Application>
  <PresentationFormat>Widescreen</PresentationFormat>
  <Paragraphs>256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Narrow</vt:lpstr>
      <vt:lpstr>Arial</vt:lpstr>
      <vt:lpstr>Arial Black</vt:lpstr>
      <vt:lpstr>Calibri</vt:lpstr>
      <vt:lpstr>Courier New</vt:lpstr>
      <vt:lpstr>Wingdings</vt:lpstr>
      <vt:lpstr>Custom</vt:lpstr>
      <vt:lpstr>Comprehensive Audit and Analysis for Effective Digital Presence</vt:lpstr>
      <vt:lpstr>Agenda</vt:lpstr>
      <vt:lpstr>PROJECT OVERVIEW</vt:lpstr>
      <vt:lpstr>COMPANY OVERVIEW</vt:lpstr>
      <vt:lpstr>Website Audit </vt:lpstr>
      <vt:lpstr>PowerPoint Presentation</vt:lpstr>
      <vt:lpstr>Website Audit </vt:lpstr>
      <vt:lpstr>PowerPoint Presentation</vt:lpstr>
      <vt:lpstr>Digital Marketing Analysis</vt:lpstr>
      <vt:lpstr>PowerPoint Presentation</vt:lpstr>
      <vt:lpstr>Digital Marketing Analysis</vt:lpstr>
      <vt:lpstr>PowerPoint Presentation</vt:lpstr>
      <vt:lpstr>LANDING PAGE</vt:lpstr>
      <vt:lpstr>Expected Business Impact of Kissflow</vt:lpstr>
      <vt:lpstr> Kissflow Optimization Strategy</vt:lpstr>
      <vt:lpstr>CONCLUSION</vt:lpstr>
      <vt:lpstr>References:</vt:lpstr>
      <vt:lpstr>TOOLS: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JAVIDH FARHAN</dc:creator>
  <cp:lastModifiedBy>JAVIDH FARHAN</cp:lastModifiedBy>
  <cp:revision>10</cp:revision>
  <dcterms:created xsi:type="dcterms:W3CDTF">2025-10-22T12:40:49Z</dcterms:created>
  <dcterms:modified xsi:type="dcterms:W3CDTF">2025-10-23T14:17:30Z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